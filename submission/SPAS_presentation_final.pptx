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media/image1.wmf" ContentType="image/x-wmf"/>
  <Override PartName="/ppt/media/media29.mp4" ContentType="video/mp4"/>
  <Override PartName="/ppt/media/image3.wmf" ContentType="image/x-wmf"/>
  <Override PartName="/ppt/slideMasters/slideMaster1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61" r:id="rId5"/>
    <p:sldMasterId id="2147483670" r:id="rId6"/>
    <p:sldMasterId id="2147483672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</p:sldIdLst>
  <p:sldSz cx="9144000" cy="6858000"/>
  <p:notesSz cx="9925050" cy="66659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11.xml"/><Relationship Id="rId6" Type="http://schemas.openxmlformats.org/officeDocument/2006/relationships/slideMaster" Target="slideMasters/slideMaster19.xml"/><Relationship Id="rId7" Type="http://schemas.openxmlformats.org/officeDocument/2006/relationships/slideMaster" Target="slideMasters/slideMaster20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Selected detector</c:v>
                </c:pt>
              </c:strCache>
            </c:strRef>
          </c:tx>
          <c:spPr>
            <a:solidFill>
              <a:srgbClr val="0065bd"/>
            </a:solidFill>
            <a:ln w="0">
              <a:solidFill>
                <a:srgbClr val="0065bd"/>
              </a:solidFill>
            </a:ln>
          </c:spPr>
          <c:invertIfNegative val="0"/>
          <c:dLbls>
            <c:numFmt formatCode="0.000" sourceLinked="0"/>
            <c:txPr>
              <a:bodyPr wrap="square"/>
              <a:lstStyle/>
              <a:p>
                <a:pPr>
                  <a:defRPr sz="750" b="1" u="none" strike="noStrike">
                    <a:solidFill>
                      <a:srgbClr val="1a1a1a"/>
                    </a:solidFill>
                    <a:uFillTx/>
                    <a:latin typeface="Arial"/>
                    <a:ea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Shared validation</c:v>
                </c:pt>
                <c:pt idx="1">
                  <c:v>Robot photos</c:v>
                </c:pt>
                <c:pt idx="2">
                  <c:v>Robot video</c:v>
                </c:pt>
              </c:strCache>
            </c:strRef>
          </c:cat>
          <c:val>
            <c:numRef>
              <c:f>0</c:f>
              <c:numCache>
                <c:formatCode>0.000</c:formatCode>
                <c:ptCount val="3"/>
                <c:pt idx="0">
                  <c:v>0.656</c:v>
                </c:pt>
                <c:pt idx="1">
                  <c:v>0.839</c:v>
                </c:pt>
                <c:pt idx="2">
                  <c:v>0.924</c:v>
                </c:pt>
              </c:numCache>
            </c:numRef>
          </c:val>
        </c:ser>
        <c:gapWidth val="75"/>
        <c:overlap val="0"/>
        <c:axId val="34929402"/>
        <c:axId val="51351362"/>
      </c:barChart>
      <c:catAx>
        <c:axId val="34929402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8d8d8"/>
            </a:solidFill>
            <a:round/>
          </a:ln>
        </c:spPr>
        <c:txPr>
          <a:bodyPr/>
          <a:lstStyle/>
          <a:p>
            <a:pPr>
              <a:defRPr sz="713" b="0" u="none" strike="noStrike">
                <a:solidFill>
                  <a:srgbClr val="5a5a5a"/>
                </a:solidFill>
                <a:uFillTx/>
                <a:latin typeface="Arial"/>
                <a:ea typeface="Arial"/>
              </a:defRPr>
            </a:pPr>
          </a:p>
        </c:txPr>
        <c:crossAx val="51351362"/>
        <c:crosses val="autoZero"/>
        <c:auto val="1"/>
        <c:lblAlgn val="ctr"/>
        <c:lblOffset val="100"/>
        <c:noMultiLvlLbl val="0"/>
      </c:catAx>
      <c:valAx>
        <c:axId val="51351362"/>
        <c:scaling>
          <c:orientation val="minMax"/>
          <c:max val="1"/>
          <c:min val="0"/>
        </c:scaling>
        <c:delete val="0"/>
        <c:axPos val="l"/>
        <c:numFmt formatCode="General" sourceLinked="0"/>
        <c:majorTickMark val="none"/>
        <c:minorTickMark val="none"/>
        <c:tickLblPos val="none"/>
        <c:spPr>
          <a:ln w="0">
            <a:noFill/>
          </a:ln>
        </c:spPr>
        <c:txPr>
          <a:bodyPr/>
          <a:lstStyle/>
          <a:p>
            <a:pPr>
              <a:defRPr sz="1000" b="0" u="none" strike="noStrike">
                <a:solidFill>
                  <a:srgbClr val="666666"/>
                </a:solidFill>
                <a:uFillTx/>
                <a:latin typeface="Arial"/>
              </a:defRPr>
            </a:pPr>
          </a:p>
        </c:txPr>
        <c:crossAx val="34929402"/>
        <c:crosses val="autoZero"/>
        <c:crossBetween val="between"/>
        <c:majorUnit val="0.2"/>
      </c:valAx>
      <c:spPr>
        <a:solidFill>
          <a:srgbClr val="ffffff"/>
        </a:solidFill>
        <a:ln w="0">
          <a:noFill/>
        </a:ln>
      </c:spPr>
    </c:plotArea>
    <c:plotVisOnly val="1"/>
    <c:dispBlanksAs val="zero"/>
  </c:chart>
  <c:spPr>
    <a:solidFill>
      <a:srgbClr val="ffffff"/>
    </a:solidFill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zh-CN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单击以移动幻灯片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点击编辑备注格式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 type="dt" idx="4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PlaceHolder 5"/>
          <p:cNvSpPr>
            <a:spLocks noGrp="1"/>
          </p:cNvSpPr>
          <p:nvPr>
            <p:ph type="ftr" idx="4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PlaceHolder 6"/>
          <p:cNvSpPr>
            <a:spLocks noGrp="1"/>
          </p:cNvSpPr>
          <p:nvPr>
            <p:ph type="sldNum" idx="4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A858C57-4063-4D7D-A1F1-C674ABBA198C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0:40]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Good morning, and thank you for coming. We are the S.P.A.S. team, and our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 is the Self-Propelled Arm System.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 is a small tracked robot with a robotic arm on top. Its job is to find drink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cans on the floor of an indoor room, pick them up, and drop them into 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collection bin.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interesting part of the project is the constraint we worked under. The robot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has one camera and no other sensor. Everything you will see today is decided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from that single image.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 will start with a short overview, and then my colleagues will take you through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system and the results.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PlaceHolder 3"/>
          <p:cNvSpPr>
            <a:spLocks noGrp="1"/>
          </p:cNvSpPr>
          <p:nvPr>
            <p:ph type="sldNum" idx="44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0133FB5-C758-4484-9076-171CB9117327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21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482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1:10]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Here is the system in three lines.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First, it is an autonomous can collection robot: a tracked indoor platform with 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 link arm and a parallel gripper.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Second, and this is the important one, a single RGB camera is the only sensor.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There is no depth sensor, no range finder, no wheel encoders, and no force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sensing in the gripper.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Third, because of that, vision is in the loop at every stage. Search, approach,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grasp and delivery are all decided from the image.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photograph on the left shows the environment we work in: drink cans standing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floor, and a bin marked with an AprilTag.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outline on the right is how we will proceed. We start with the problem and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platform, then the architecture and the control logic, then perception and 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complete run on hardware, then the measured results, and we close with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limitations and the conclusion.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 type="sldNum" idx="45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E88AD2A-C34D-414C-9190-A044FF7743CC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21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1:20]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First, why this task.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Drink cans accumulate in indoor public spaces, and collecting them is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repetitive, low risk manual work. For us it was a good project task because it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combines everything at once: perception, navigation, decision making and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manipulation.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mission breaks into four stages, shown on the left.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detection, the robot rotates in place until the detector accepts a target.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approach, it steers on the image error and stops when the target looks large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enough. In grasp, it lowers the arm, pushes, closes and lifts. In delivery, it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docks on the AprilTag and releases the can above the bin.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right is the hardware we had to do this with. One RGB camera, 320 by 240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pixels, with a 60 degree field of view. No depth sensing, no stereo pair, no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range finder. No wheel encoders, so the base returns no motion feedback at all.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no force sensing, so the gripper cannot detect contact.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consequence is at the bottom right, and it is the sentence that shapes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 system: the base is an open loop actuator. We command it to move, and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only way to confirm that it moved is to look at the next camera image.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 type="sldNum" idx="46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3F4AFC-2363-4F2F-AD94-FF38A5216634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488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1:15]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hardware architecture.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the middle is the Jetson Nano with four gigabytes of shared memory. It runs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everything on board. There is no external computer and no remote control.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Three subsystems are connected to it. On the left, the CSI camera delivers 320 by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240 frames over CSI-2. On the right, two track motors are driven with PWM through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motor driver, and they report nothing back. Below them, five bus servos are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connected in one TTL serial chain, and these are the only devices in the system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whose position we can read. Servo four closes the gripper.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dashed lines are the power rail, from the battery to the drive and to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computer.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 the bottom is the software stack, in four layers. The mission layer is our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demo_core state machine with sixteen states. The perception layer uses detectNet,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pupil_apriltags library and OpenCV. The hardware layer wraps the jetbot Robot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Camera classes and the TTLServo driver. And all tuning constants live in two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JSON configuration files, so no threshold is hard coded in the logic.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3"/>
          <p:cNvSpPr>
            <a:spLocks noGrp="1"/>
          </p:cNvSpPr>
          <p:nvPr>
            <p:ph type="sldNum" idx="47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7764E1C-E369-44FD-A829-858693FF9F13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491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1:45]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mission logic is an explicit finite state machine, sixteen states in total.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graph on the left is the design level view. The guards on the transitions are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fields of a single shared context object, so every state reads the same picture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 the world.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right are the four states that are driven by vision.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searching, the robot rotates until a target is accepted or the timeout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expires. In aligning, it turns until the target is within tolerance, and it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aborts if the target is lost. In approaching, it steers or drives forward and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stops on apparent size. Final verification repeats the check with a tighter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tolerance over several consecutive frames, so a single lucky frame cannot trigger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grasp.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formula below is the whole control input. e_x is the horizontal position of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target centre, minus half the image width, divided by the image width. It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ranges from minus zero point five to plus zero point five, negative to the left of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centre. We steer to drive that error to zero.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Distance is handled the same way. We do not estimate range. We stop when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detection box reaches 0.36 of the image height for a can, or 0.15 for the tag.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Apparent size replaces a distance measurement.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design decisions at the bottom. Transitions are held in an explicit table, so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 undeclared state and event pair raises an error instead of failing silently.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finalising requires a stable target, which map based navigation never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provides, so dead reckoning alone can never trigger a grasp.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sldNum" idx="48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5D73531-BD3E-4BDA-AEA4-9626A5094DF6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494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1:35]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the grasp itself.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There is no inverse kinematics here. The arm moves between fixed, pre-defined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poses, and the base drives the can into the open gripper.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sequence at the top has six steps. Two seconds of settling. Lower the arm to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down pose, polling the servos. Push forward slowly, which is the step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highlighted in blue. Hold the arm locked for five seconds. Close to the grab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pose. Lift to the carry pose.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four frames below are recorded on board during a real pickup: verification,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push, closing, and carry.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Why push instead of simply closing the gripper on the can? The arm is short and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gripper closes imprecisely, but the base moves reliably over short distances.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 we lower the open gripper to the floor and drive the can into it. We trade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fine manipulation, which our hardware is bad at, for coarse base motion, which it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does well.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block below is the one place in the whole system with real feedback. Servo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positions are polled until the readings stop changing, instead of waiting a fixed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delay. If the arm has not settled, the push is blocked outright. In the archived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 this took 4.94 seconds of settling, 7 seconds of pushing and 5 seconds of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holding.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limitation is honest and it is on the slide: this only works for light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objects on a low friction floor.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PlaceHolder 3"/>
          <p:cNvSpPr>
            <a:spLocks noGrp="1"/>
          </p:cNvSpPr>
          <p:nvPr>
            <p:ph type="sldNum" idx="49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6E85CEC-82A7-43CA-BDE6-108D48DCE141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1:05]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experimental setup and one complete reference run.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left, the platform holding a grasped can. In the middle, the arena: a 250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millilitre can and the bin with the AprilTag. On the right, the end of the run,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with the can held above the bin.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numbers below describe that run. It took 73.8 seconds from the start of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search to the release over the bin. One camera, with no depth sensor, no range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finder and no encoders. 98 can detections during the run, and 41 successful tag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reads out of 59 attempts.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 search, grasp, transport and release were all completed on real hardware using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camera alone. And this is not an assumption on our side: the on-board overlay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records DEPTH equals NO on every single frame of that run.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50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BCFD6E5-D2E0-4E93-9973-373762FC95F4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1:20]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Perception is two detectors, and between them they produce every measurement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controller uses.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left is the object detector, SSD-MobileNet-V1 at 300 by 300 input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resolution, with the confidence score.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the middle is the same detector running inside the mission, with our overlay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top. You can read the two values the controller actually consumes: 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horizontal error of minus 0.119, so the can is slightly left of centre, and a box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height of 0.255, which is still below the 0.36 stopping threshold. So at this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moment the robot keeps approaching.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right is the AprilTag detector during docking at the bin. Family tag36h11,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identifier zero. The tag height is 0.186 against a threshold of 0.15, and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 is minus 0.055.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point worth making explicitly: we never calibrated the camera, and we do not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need to. Tag height, edge ratio and corner angle are all ratios measured in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image, so the focal length cancels out. The AprilTag library can also give 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metric pose through perspective-n-point, but we deliberately do not use it.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51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3A0D7C0-3638-4568-BF07-F3F35171ECEF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1:35]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the measurements.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left chart is detector accuracy as F1 score. The two bars per group compare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model we deployed against the stronger custom model. On photographs we lose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about six F1 points, and on video about two.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accepted that, and the reason is below the chart. The deployed model removes 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custom post-processing layer and a custom inference backend, and it uses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 path that NVIDIA supports natively on the Nano. We traded a small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amount of accuracy for a deployment that works reliably on the device we have.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conversion itself is lossless in practice: the difference between the PyTorch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and the exported ONNX model is 4.4 times ten to the minus seven.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right chart is where the time goes in the 73.8 second run. Only 31.2 seconds,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about 42 percent, is commanded base motion. Another 11.9 seconds are deliberate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holds, the settling and locking we saw in the grasp sequence. The rest is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perception and decision time.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caveat, and we state it on the slide rather than hiding it. That run was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recorded by the earlier prototype, with the legacy parameter set and the custom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TensorRT detector. Its stop thresholds were 0.400 and 0.500, not the 0.36 and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0.15 we use today. The counts and the timings are exact, but the thresholds do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 match the current configuration.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52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74EE92E-6C95-48E9-B58F-E5BEFF237687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1:35]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want to be clear about what does not work.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First, depth estimation. We tested a depth network, and it was reliable to about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0.3 metres in a general scene, and to about one metre only on clean white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surfaces. Our can detector already works out to three metres, so the depth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estimate was worse than the detector it was supposed to help. We removed it from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control path completely.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Second, the pose estimate drifts. The two tracks turn at different rates,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somewhere between one and three radians per second, while our model assumes fixed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values of 0.471 and 0.942. The error is larger than the quantity we are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modelling, so dead reckoning is not trustworthy. The AprilTag on the bin is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only absolute anchor the robot has.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Third, and this is the failure that worries us most, one failure mode is silent.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Grasp verification is currently disabled, so a pickup is recorded whether or not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can is actually in the gripper. The robot can report success with an empty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gripper. Enabling that verification flag is the first fix on our list.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Taken together, the missing capability is relocalisation. The map can direct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robot's attention, but it can never trigger an action on its own.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challenges at the bottom are the practical ones. Open loop turning was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unreliable, so we replaced it with short pulses and visual correction.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gripper gives no feedback, so full and empty look identical. We only get 10 to 15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frames per second, so motion is pulsed and speeds are kept low. Deployment cost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 accuracy but bought reliability. Depth underperformed. And timing the grasp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needed real feedback, because a fixed delay simply did not work.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53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15808E9-9413-47F7-93E3-59DECB881DD2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1:10]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summarise.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built an indoor mobile manipulator that operates on a single camera. Its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 loops are closed on how the target appears in the image, rather than on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estimated geometry. The practical effect is that errors degrade performance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instead of causing failure: when the map drifts, the robot searches longer, and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turning is asymmetric, it makes a few more corrections, but it still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completes the mission.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one exception is the undetected empty gripper, and we have said why. In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general, on hardware without proprioception, we would rather be conservative and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slow than confidently wrong.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Our immediate next steps are small. Enable grasp verification, which costs one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additional observation per pickup. And calibrate the two turn constants, because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per direction scale factors already exist in the configuration and are simply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 to one.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we had a budget for sensors, the order would be: a forward distance sensor,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which would be the first true metric measurement in the system; force or current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sensing in the gripper, which addresses the empty gripper failure directly; track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odometry, which would turn the map from a hint into a measurement; and more tags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the room as cheap relocalisation anchors.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Thank you for your attention. We are happy to take your questions.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54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950F336-A309-451B-84B5-7D1EB65F7831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wmf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wmf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wmf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wmf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wmf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wmf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wmf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wmf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wmf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wmf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wmf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wmf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wmf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wmf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wmf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wmf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C8510E9-7190-4E59-BAB6-D514A2B352BE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E45D7DFA-BCB0-400A-A8A4-05814A97E4D2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d 6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feld 10"/>
          <p:cNvSpPr/>
          <p:nvPr/>
        </p:nvSpPr>
        <p:spPr>
          <a:xfrm>
            <a:off x="320400" y="314280"/>
            <a:ext cx="7697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Lehrstuhl für Musterverfahren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TUM School of Mustertechnik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Technische Universität München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body"/>
          </p:nvPr>
        </p:nvSpPr>
        <p:spPr>
          <a:xfrm>
            <a:off x="318960" y="1978560"/>
            <a:ext cx="8507160" cy="1272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Referent</a:t>
            </a:r>
            <a:br>
              <a:rPr sz="1600"/>
            </a:b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Ort, Datum (Schreibweise: 00. Januar 2015)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Rechteck 13"/>
          <p:cNvSpPr/>
          <p:nvPr/>
        </p:nvSpPr>
        <p:spPr>
          <a:xfrm>
            <a:off x="8347680" y="6408360"/>
            <a:ext cx="573480" cy="35676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ldNum" idx="5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1C77C2D-D1DD-4123-8288-F0B42913E836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6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</a:t>
            </a: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Klicken </a:t>
            </a: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Bild 6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Textfeld 10"/>
          <p:cNvSpPr/>
          <p:nvPr/>
        </p:nvSpPr>
        <p:spPr>
          <a:xfrm>
            <a:off x="320400" y="314280"/>
            <a:ext cx="7697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Lehrstuhl für Musterverfahren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TUM School of Mustertechnik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Technische Universität München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46976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14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ldNum" idx="7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8D877AB-8752-4105-B9CF-D440811469E8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ftr" idx="8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 +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Bild 6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feld 10"/>
          <p:cNvSpPr/>
          <p:nvPr/>
        </p:nvSpPr>
        <p:spPr>
          <a:xfrm>
            <a:off x="320400" y="314280"/>
            <a:ext cx="7697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Lehrstuhl für Musterverfahren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TUM School of Mustertechnik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Technische Universität München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7131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ldNum" idx="9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11B6E8-ADA5-4E25-86D1-43E0EC4EAF7C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0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317160" y="2484000"/>
            <a:ext cx="4241160" cy="3972960"/>
          </a:xfrm>
          <a:prstGeom prst="rect">
            <a:avLst/>
          </a:prstGeom>
          <a:noFill/>
          <a:ln w="0">
            <a:noFill/>
          </a:ln>
        </p:spPr>
        <p:txBody>
          <a:bodyPr lIns="0" rIns="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Textmasterformate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4584240" y="2484000"/>
            <a:ext cx="4242600" cy="39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点击以编辑提纲文本格式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第二提纲级别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5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第三提纲级别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5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第四提纲级别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第五提纲级别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第六提纲级别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第七提纲级别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Bild 6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feld 10"/>
          <p:cNvSpPr/>
          <p:nvPr/>
        </p:nvSpPr>
        <p:spPr>
          <a:xfrm>
            <a:off x="320400" y="314280"/>
            <a:ext cx="7697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Lehrstuhl für Musterverfahren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TUM School of Mustertechnik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Technische Universität München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4179240" cy="46857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14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647240" y="1762200"/>
            <a:ext cx="4179240" cy="46857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14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11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060CBCA-4F78-4D55-8481-31309CFE6380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ftr" idx="12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Bild 6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Textfeld 10"/>
          <p:cNvSpPr/>
          <p:nvPr/>
        </p:nvSpPr>
        <p:spPr>
          <a:xfrm>
            <a:off x="320400" y="314280"/>
            <a:ext cx="7697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Lehrstuhl für Musterverfahren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TUM School of Mustertechnik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Technische Universität München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 useBgFill="1">
        <p:nvSpPr>
          <p:cNvPr id="41" name="PlaceHolder 1"/>
          <p:cNvSpPr>
            <a:spLocks noGrp="1"/>
          </p:cNvSpPr>
          <p:nvPr>
            <p:ph type="body"/>
          </p:nvPr>
        </p:nvSpPr>
        <p:spPr>
          <a:xfrm>
            <a:off x="318960" y="2499480"/>
            <a:ext cx="8507160" cy="3960720"/>
          </a:xfrm>
          <a:prstGeom prst="rect">
            <a:avLst/>
          </a:prstGeom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14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 useBgFill="1">
        <p:nvSpPr>
          <p:cNvPr id="42" name="PlaceHolder 2"/>
          <p:cNvSpPr>
            <a:spLocks noGrp="1"/>
          </p:cNvSpPr>
          <p:nvPr>
            <p:ph type="sldNum" idx="13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20890F-2A53-4E02-8B21-84A40CACB609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 useBgFill="1">
        <p:nvSpPr>
          <p:cNvPr id="43" name="PlaceHolder 3"/>
          <p:cNvSpPr>
            <a:spLocks noGrp="1"/>
          </p:cNvSpPr>
          <p:nvPr>
            <p:ph type="ftr" idx="14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 useBgFill="1">
        <p:nvSpPr>
          <p:cNvPr id="44" name="PlaceHolder 4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713160"/>
          </a:xfrm>
          <a:prstGeom prst="rect">
            <a:avLst/>
          </a:prstGeom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oße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Bild 6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Textfeld 10"/>
          <p:cNvSpPr/>
          <p:nvPr/>
        </p:nvSpPr>
        <p:spPr>
          <a:xfrm>
            <a:off x="320400" y="314280"/>
            <a:ext cx="7697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Lehrstuhl für Musterverfahren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TUM School of Mustertechnik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Technische Universität München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7131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ldNum" idx="15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A90FABF-C56C-4812-8273-7C2CB907C04F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ftr" idx="16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0" y="2476440"/>
            <a:ext cx="9142200" cy="4379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点击以编辑提纲文本格式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第二提纲级别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5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第三提纲级别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5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第四提纲级别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第五提纲级别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第六提纲级别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第七提纲级别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er formatfüllen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Bild 6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Textfeld 10"/>
          <p:cNvSpPr/>
          <p:nvPr/>
        </p:nvSpPr>
        <p:spPr>
          <a:xfrm>
            <a:off x="320400" y="314280"/>
            <a:ext cx="7697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Lehrstuhl für Musterverfahren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TUM School of Mustertechnik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Technische Universität München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body"/>
          </p:nvPr>
        </p:nvSpPr>
        <p:spPr>
          <a:xfrm>
            <a:off x="0" y="1691640"/>
            <a:ext cx="9142200" cy="516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点击以编辑提纲文本格式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第二提纲级别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5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第三提纲级别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5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第四提纲级别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第五提纲级别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第六提纲级别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第七提纲级别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ldNum" idx="17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F97C91D-2BB2-42E9-9901-3338E11912AF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18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 + Text (Hintergrund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Bild 6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Textfeld 10"/>
          <p:cNvSpPr/>
          <p:nvPr/>
        </p:nvSpPr>
        <p:spPr>
          <a:xfrm>
            <a:off x="320400" y="314280"/>
            <a:ext cx="7697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Lehrstuhl für Musterverfahren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TUM School of Mustertechnik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Technische Universität München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Rechteck 8"/>
          <p:cNvSpPr/>
          <p:nvPr/>
        </p:nvSpPr>
        <p:spPr>
          <a:xfrm>
            <a:off x="0" y="2477160"/>
            <a:ext cx="9142200" cy="43790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endParaRPr lang="de-DE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7131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ldNum" idx="19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3CB9D9F-0CDB-40D4-A28F-0591A24A47C6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ftr" idx="20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body"/>
          </p:nvPr>
        </p:nvSpPr>
        <p:spPr>
          <a:xfrm>
            <a:off x="317160" y="2484000"/>
            <a:ext cx="4241160" cy="3972960"/>
          </a:xfrm>
          <a:prstGeom prst="rect">
            <a:avLst/>
          </a:prstGeom>
          <a:noFill/>
          <a:ln w="0">
            <a:noFill/>
          </a:ln>
        </p:spPr>
        <p:txBody>
          <a:bodyPr lIns="0" rIns="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Textmasterformate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body"/>
          </p:nvPr>
        </p:nvSpPr>
        <p:spPr>
          <a:xfrm>
            <a:off x="4584240" y="2484000"/>
            <a:ext cx="4242600" cy="39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点击以编辑提纲文本格式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第二提纲级别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5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第三提纲级别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5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第四提纲级别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第五提纲级别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第六提纲级别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第七提纲级别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6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Bild 2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PlaceHolder 1"/>
          <p:cNvSpPr>
            <a:spLocks noGrp="1"/>
          </p:cNvSpPr>
          <p:nvPr>
            <p:ph type="body"/>
          </p:nvPr>
        </p:nvSpPr>
        <p:spPr>
          <a:xfrm>
            <a:off x="318960" y="1978560"/>
            <a:ext cx="8507160" cy="1272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Referent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Ort, Datum (Schreibweise: 00. Januar 2015)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echteck 13"/>
          <p:cNvSpPr/>
          <p:nvPr/>
        </p:nvSpPr>
        <p:spPr>
          <a:xfrm>
            <a:off x="8347680" y="6408360"/>
            <a:ext cx="573480" cy="35676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sldNum" idx="21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2AB10A-E889-4294-BFD6-1CCC04DAED2E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ftr" idx="22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Bild 2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46976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14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ldNum" idx="23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5D0A19F-5044-4BF2-96E4-AF4479E26DB3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ftr" idx="24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Bild 2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 useBgFill="1">
        <p:nvSpPr>
          <p:cNvPr id="80" name="PlaceHolder 1"/>
          <p:cNvSpPr>
            <a:spLocks noGrp="1"/>
          </p:cNvSpPr>
          <p:nvPr>
            <p:ph type="body"/>
          </p:nvPr>
        </p:nvSpPr>
        <p:spPr>
          <a:xfrm>
            <a:off x="318960" y="2499480"/>
            <a:ext cx="8507160" cy="3960720"/>
          </a:xfrm>
          <a:prstGeom prst="rect">
            <a:avLst/>
          </a:prstGeom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14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 useBgFill="1">
        <p:nvSpPr>
          <p:cNvPr id="81" name="PlaceHolder 2"/>
          <p:cNvSpPr>
            <a:spLocks noGrp="1"/>
          </p:cNvSpPr>
          <p:nvPr>
            <p:ph type="sldNum" idx="25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C54D5E-716F-49AC-96C4-DF25FCD420A2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 useBgFill="1">
        <p:nvSpPr>
          <p:cNvPr id="82" name="PlaceHolder 3"/>
          <p:cNvSpPr>
            <a:spLocks noGrp="1"/>
          </p:cNvSpPr>
          <p:nvPr>
            <p:ph type="ftr" idx="26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 useBgFill="1">
        <p:nvSpPr>
          <p:cNvPr id="83" name="PlaceHolder 4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713160"/>
          </a:xfrm>
          <a:prstGeom prst="rect">
            <a:avLst/>
          </a:prstGeom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</a:t>
            </a: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durch </a:t>
            </a: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Klicke</a:t>
            </a: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 </a:t>
            </a: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bearb</a:t>
            </a: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Bild 2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4179240" cy="46857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14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4647240" y="1762200"/>
            <a:ext cx="4179240" cy="46857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14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27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BCE6AED-BFFA-40C8-B1BF-B80B84A36637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ftr" idx="28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Bild 2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7131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sldNum" idx="29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5FEFA62-319E-4ADF-81AD-771B0F632CAB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ftr" idx="30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317160" y="2484000"/>
            <a:ext cx="4241160" cy="3972960"/>
          </a:xfrm>
          <a:prstGeom prst="rect">
            <a:avLst/>
          </a:prstGeom>
          <a:noFill/>
          <a:ln w="0">
            <a:noFill/>
          </a:ln>
        </p:spPr>
        <p:txBody>
          <a:bodyPr lIns="0" rIns="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Textmasterformate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4584240" y="2484000"/>
            <a:ext cx="4242600" cy="39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点击以编辑提纲文本格式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第二提纲级别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5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第三提纲级别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5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第四提纲级别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第五提纲级别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第六提纲级别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第七提纲级别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6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Bild 2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Rechteck 8"/>
          <p:cNvSpPr/>
          <p:nvPr/>
        </p:nvSpPr>
        <p:spPr>
          <a:xfrm>
            <a:off x="0" y="2477160"/>
            <a:ext cx="9142200" cy="43790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endParaRPr lang="de-DE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7131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ldNum" idx="31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8C96E0-FBCB-4329-A436-AB041267F99B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 type="ftr" idx="32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 type="body"/>
          </p:nvPr>
        </p:nvSpPr>
        <p:spPr>
          <a:xfrm>
            <a:off x="317160" y="2484000"/>
            <a:ext cx="4241160" cy="3972960"/>
          </a:xfrm>
          <a:prstGeom prst="rect">
            <a:avLst/>
          </a:prstGeom>
          <a:noFill/>
          <a:ln w="0">
            <a:noFill/>
          </a:ln>
        </p:spPr>
        <p:txBody>
          <a:bodyPr lIns="0" rIns="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Textmasterformate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5"/>
          <p:cNvSpPr>
            <a:spLocks noGrp="1"/>
          </p:cNvSpPr>
          <p:nvPr>
            <p:ph type="body"/>
          </p:nvPr>
        </p:nvSpPr>
        <p:spPr>
          <a:xfrm>
            <a:off x="4584240" y="2484000"/>
            <a:ext cx="4242600" cy="39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点击以编辑提纲文本格式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第二提纲级别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5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第三提纲级别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5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第四提纲级别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第五提纲级别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第六提纲级别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第七提纲级别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6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Bild 2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7131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sldNum" idx="33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6C5F884-AA99-4AE6-8BC6-4639D8C75F28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ftr" idx="34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0" y="2476440"/>
            <a:ext cx="9142200" cy="4379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点击以编辑提纲文本格式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第二提纲级别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5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第三提纲级别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5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第四提纲级别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第五提纲级别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第六提纲级别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第七提纲级别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Bild 2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PlaceHolder 1"/>
          <p:cNvSpPr>
            <a:spLocks noGrp="1"/>
          </p:cNvSpPr>
          <p:nvPr>
            <p:ph type="body"/>
          </p:nvPr>
        </p:nvSpPr>
        <p:spPr>
          <a:xfrm>
            <a:off x="0" y="1691640"/>
            <a:ext cx="9142200" cy="516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点击以编辑提纲文本格式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第二提纲级别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5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第三提纲级别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5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第四提纲级别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第五提纲级别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第六提纲级别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第七提纲级别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ldNum" idx="35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B8E99FE-91E6-4FE6-8BF8-EF66D50F316E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ftr" idx="36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AC1D314D-706C-4A3E-A757-0F952E2F30CD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D6AFB4DB-E220-420A-94D8-22AA7118606D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wmf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jpeg"/><Relationship Id="rId3" Type="http://schemas.openxmlformats.org/officeDocument/2006/relationships/image" Target="../media/image3.wmf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3.wmf"/><Relationship Id="rId3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3.wmf"/><Relationship Id="rId3" Type="http://schemas.openxmlformats.org/officeDocument/2006/relationships/slideLayout" Target="../slideLayouts/slideLayout2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ild 8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Rechteck 13"/>
          <p:cNvSpPr/>
          <p:nvPr/>
        </p:nvSpPr>
        <p:spPr>
          <a:xfrm>
            <a:off x="8347680" y="6408360"/>
            <a:ext cx="573480" cy="35676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ftr" idx="1"/>
          </p:nvPr>
        </p:nvSpPr>
        <p:spPr>
          <a:xfrm>
            <a:off x="311040" y="6473160"/>
            <a:ext cx="7827840" cy="3830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&lt;页脚&gt;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6A9CB75-AEC1-487B-BE84-711E027932D7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22"/>
          <p:cNvSpPr/>
          <p:nvPr/>
        </p:nvSpPr>
        <p:spPr>
          <a:xfrm>
            <a:off x="7713360" y="6546240"/>
            <a:ext cx="111348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spAutoFit/>
          </a:bodyPr>
          <a:p>
            <a:pPr algn="r">
              <a:lnSpc>
                <a:spcPct val="114000"/>
              </a:lnSpc>
            </a:pPr>
            <a:fld id="{656C6B32-8495-4C7F-BD95-A4AC598F5684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" name="Bild 4" descr="Fahnen_HG.jpg"/>
          <p:cNvPicPr/>
          <p:nvPr/>
        </p:nvPicPr>
        <p:blipFill>
          <a:blip r:embed="rId2"/>
          <a:stretch/>
        </p:blipFill>
        <p:spPr>
          <a:xfrm>
            <a:off x="-42480" y="0"/>
            <a:ext cx="9183240" cy="685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" name="Bild 6" descr="20150416 tum logo blau png final.png"/>
          <p:cNvPicPr/>
          <p:nvPr/>
        </p:nvPicPr>
        <p:blipFill>
          <a:blip r:embed="rId3"/>
          <a:stretch/>
        </p:blipFill>
        <p:spPr>
          <a:xfrm>
            <a:off x="8222760" y="324720"/>
            <a:ext cx="59796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ftr" idx="3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B27623D-556E-49C1-B73F-1E50C47E1AC9}" type="slidenum">
              <a: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hteck 5"/>
          <p:cNvSpPr/>
          <p:nvPr/>
        </p:nvSpPr>
        <p:spPr>
          <a:xfrm>
            <a:off x="0" y="0"/>
            <a:ext cx="9142200" cy="685620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t">
            <a:noAutofit/>
          </a:bodyPr>
          <a:p>
            <a:pPr algn="ctr">
              <a:lnSpc>
                <a:spcPct val="114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18" name="Bild 3" descr="20150416 tum logo blau png final.png"/>
          <p:cNvPicPr/>
          <p:nvPr/>
        </p:nvPicPr>
        <p:blipFill>
          <a:blip r:embed="rId2"/>
          <a:stretch/>
        </p:blipFill>
        <p:spPr>
          <a:xfrm>
            <a:off x="8222760" y="324720"/>
            <a:ext cx="59796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" name="PlaceHolder 1"/>
          <p:cNvSpPr>
            <a:spLocks noGrp="1"/>
          </p:cNvSpPr>
          <p:nvPr>
            <p:ph type="ftr" idx="37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sldNum" idx="38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EB5565-CE1E-4D18-B5EE-FFABD13929E3}" type="slidenum">
              <a: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3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hteck 6"/>
          <p:cNvSpPr/>
          <p:nvPr/>
        </p:nvSpPr>
        <p:spPr>
          <a:xfrm>
            <a:off x="0" y="0"/>
            <a:ext cx="9142200" cy="6856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t">
            <a:noAutofit/>
          </a:bodyPr>
          <a:p>
            <a:pPr algn="ctr">
              <a:lnSpc>
                <a:spcPct val="114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22" name="Bild 3" descr="20150416 tum logo blau png final.png"/>
          <p:cNvPicPr/>
          <p:nvPr/>
        </p:nvPicPr>
        <p:blipFill>
          <a:blip r:embed="rId2"/>
          <a:stretch/>
        </p:blipFill>
        <p:spPr>
          <a:xfrm>
            <a:off x="8222760" y="324720"/>
            <a:ext cx="59796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PlaceHolder 1"/>
          <p:cNvSpPr>
            <a:spLocks noGrp="1"/>
          </p:cNvSpPr>
          <p:nvPr>
            <p:ph type="ftr" idx="39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40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4B8239C-4067-43D6-9889-180BD3DF39E7}" type="slidenum">
              <a: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slideLayout" Target="../slideLayouts/slideLayout1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8.png"/><Relationship Id="rId3" Type="http://schemas.openxmlformats.org/officeDocument/2006/relationships/image" Target="../media/image17.png"/><Relationship Id="rId4" Type="http://schemas.openxmlformats.org/officeDocument/2006/relationships/image" Target="../media/image13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1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1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7.jpe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5.jpeg"/><Relationship Id="rId3" Type="http://schemas.openxmlformats.org/officeDocument/2006/relationships/image" Target="../media/image28.jpe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video" Target="../media/media29.mp4"/><Relationship Id="rId2" Type="http://schemas.microsoft.com/office/2007/relationships/media" Target="../media/media29.mp4"/><Relationship Id="rId3" Type="http://schemas.openxmlformats.org/officeDocument/2006/relationships/image" Target="../media/image30.png"/><Relationship Id="rId4" Type="http://schemas.openxmlformats.org/officeDocument/2006/relationships/slideLayout" Target="../slideLayouts/slideLayout1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jpeg"/><Relationship Id="rId3" Type="http://schemas.openxmlformats.org/officeDocument/2006/relationships/image" Target="../media/image33.jpe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image" Target="../media/image35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slideLayout" Target="../slideLayouts/slideLayout1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41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2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Self-Propelled Arm System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Rectangle 4"/>
          <p:cNvSpPr/>
          <p:nvPr/>
        </p:nvSpPr>
        <p:spPr>
          <a:xfrm>
            <a:off x="320040" y="1883520"/>
            <a:ext cx="1004040" cy="30240"/>
          </a:xfrm>
          <a:prstGeom prst="rect">
            <a:avLst/>
          </a:prstGeom>
          <a:solidFill>
            <a:srgbClr val="e37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33" name="Picture 5" descr="robot_platform.jpg"/>
          <p:cNvPicPr/>
          <p:nvPr/>
        </p:nvPicPr>
        <p:blipFill>
          <a:blip r:embed="rId1"/>
          <a:stretch/>
        </p:blipFill>
        <p:spPr>
          <a:xfrm>
            <a:off x="320040" y="2212920"/>
            <a:ext cx="3518640" cy="2387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TextBox 6"/>
          <p:cNvSpPr/>
          <p:nvPr/>
        </p:nvSpPr>
        <p:spPr>
          <a:xfrm>
            <a:off x="4206240" y="2761560"/>
            <a:ext cx="46159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0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Project presentation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ectangle 7"/>
          <p:cNvSpPr/>
          <p:nvPr/>
        </p:nvSpPr>
        <p:spPr>
          <a:xfrm>
            <a:off x="4206240" y="3072240"/>
            <a:ext cx="4615920" cy="540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7800" bIns="-378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8"/>
          <p:cNvSpPr/>
          <p:nvPr/>
        </p:nvSpPr>
        <p:spPr>
          <a:xfrm>
            <a:off x="4206240" y="3255120"/>
            <a:ext cx="461592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35000"/>
              </a:lnSpc>
              <a:spcAft>
                <a:spcPts val="201"/>
              </a:spcAft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Filip Chekalkin, Huaijing Hou, Spaska Janeva, Kamen Kanev,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  <a:spcAft>
                <a:spcPts val="201"/>
              </a:spcAft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Giorgi Khundadze, Xiaosheng Tan, Stoyan Vlaev, Weiye Yuan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9"/>
          <p:cNvSpPr/>
          <p:nvPr/>
        </p:nvSpPr>
        <p:spPr>
          <a:xfrm>
            <a:off x="4206240" y="3986640"/>
            <a:ext cx="461592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35000"/>
              </a:lnSpc>
            </a:pPr>
            <a:r>
              <a:rPr lang="de-DE" sz="10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Embedded Systems, Cyber-Physical Systems and Robotics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lang="de-DE" sz="10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Technical University of Munich, Campus Heilbronn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10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Introduction and Outline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3"/>
          <p:cNvSpPr/>
          <p:nvPr/>
        </p:nvSpPr>
        <p:spPr>
          <a:xfrm>
            <a:off x="320040" y="1463040"/>
            <a:ext cx="85111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Overview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4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5"/>
          <p:cNvSpPr/>
          <p:nvPr/>
        </p:nvSpPr>
        <p:spPr>
          <a:xfrm>
            <a:off x="6775560" y="6473880"/>
            <a:ext cx="2046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2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6"/>
          <p:cNvSpPr/>
          <p:nvPr/>
        </p:nvSpPr>
        <p:spPr>
          <a:xfrm>
            <a:off x="320040" y="1847160"/>
            <a:ext cx="507312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System summary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Rectangle 7"/>
          <p:cNvSpPr/>
          <p:nvPr/>
        </p:nvSpPr>
        <p:spPr>
          <a:xfrm>
            <a:off x="320040" y="228132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8"/>
          <p:cNvSpPr/>
          <p:nvPr/>
        </p:nvSpPr>
        <p:spPr>
          <a:xfrm>
            <a:off x="521280" y="2231280"/>
            <a:ext cx="487188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Autonomous can collection robot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9"/>
          <p:cNvSpPr/>
          <p:nvPr/>
        </p:nvSpPr>
        <p:spPr>
          <a:xfrm>
            <a:off x="521280" y="2450520"/>
            <a:ext cx="4871880" cy="18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Tracked indoor platform with a four link arm and a parallel gripper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Rectangle 10"/>
          <p:cNvSpPr/>
          <p:nvPr/>
        </p:nvSpPr>
        <p:spPr>
          <a:xfrm>
            <a:off x="320040" y="301284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11"/>
          <p:cNvSpPr/>
          <p:nvPr/>
        </p:nvSpPr>
        <p:spPr>
          <a:xfrm>
            <a:off x="521280" y="2962800"/>
            <a:ext cx="487188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A single RGB camera as the only sensor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12"/>
          <p:cNvSpPr/>
          <p:nvPr/>
        </p:nvSpPr>
        <p:spPr>
          <a:xfrm>
            <a:off x="521280" y="3182040"/>
            <a:ext cx="4871880" cy="18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No depth sensor, no range finder, no wheel encoders, no force sensing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ectangle 13"/>
          <p:cNvSpPr/>
          <p:nvPr/>
        </p:nvSpPr>
        <p:spPr>
          <a:xfrm>
            <a:off x="320040" y="374436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14"/>
          <p:cNvSpPr/>
          <p:nvPr/>
        </p:nvSpPr>
        <p:spPr>
          <a:xfrm>
            <a:off x="521280" y="3694320"/>
            <a:ext cx="487188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Vision in the loop at every stage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15"/>
          <p:cNvSpPr/>
          <p:nvPr/>
        </p:nvSpPr>
        <p:spPr>
          <a:xfrm>
            <a:off x="521280" y="3913560"/>
            <a:ext cx="4871880" cy="18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Search, approach, grasp and delivery are decided from the image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3" name="Picture 16" descr="targets_and_bin.jpg"/>
          <p:cNvPicPr/>
          <p:nvPr/>
        </p:nvPicPr>
        <p:blipFill>
          <a:blip r:embed="rId1"/>
          <a:stretch/>
        </p:blipFill>
        <p:spPr>
          <a:xfrm>
            <a:off x="320040" y="4498920"/>
            <a:ext cx="2741400" cy="182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Rectangle 18"/>
          <p:cNvSpPr/>
          <p:nvPr/>
        </p:nvSpPr>
        <p:spPr>
          <a:xfrm>
            <a:off x="5577840" y="1847160"/>
            <a:ext cx="5400" cy="434160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19"/>
          <p:cNvSpPr/>
          <p:nvPr/>
        </p:nvSpPr>
        <p:spPr>
          <a:xfrm>
            <a:off x="5833800" y="1847160"/>
            <a:ext cx="29883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Outline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20" descr="ic_target.png"/>
          <p:cNvPicPr/>
          <p:nvPr/>
        </p:nvPicPr>
        <p:blipFill>
          <a:blip r:embed="rId2"/>
          <a:stretch/>
        </p:blipFill>
        <p:spPr>
          <a:xfrm>
            <a:off x="5833800" y="228600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TextBox 21"/>
          <p:cNvSpPr/>
          <p:nvPr/>
        </p:nvSpPr>
        <p:spPr>
          <a:xfrm>
            <a:off x="6254640" y="2267640"/>
            <a:ext cx="2567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Problem and platform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22"/>
          <p:cNvSpPr/>
          <p:nvPr/>
        </p:nvSpPr>
        <p:spPr>
          <a:xfrm>
            <a:off x="6254640" y="2523600"/>
            <a:ext cx="256752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Task definition and hardware constraints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Picture 23" descr="ic_sitemap.png"/>
          <p:cNvPicPr/>
          <p:nvPr/>
        </p:nvPicPr>
        <p:blipFill>
          <a:blip r:embed="rId3"/>
          <a:stretch/>
        </p:blipFill>
        <p:spPr>
          <a:xfrm>
            <a:off x="5833800" y="309060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TextBox 24"/>
          <p:cNvSpPr/>
          <p:nvPr/>
        </p:nvSpPr>
        <p:spPr>
          <a:xfrm>
            <a:off x="6254640" y="3072240"/>
            <a:ext cx="2567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Architecture and control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25"/>
          <p:cNvSpPr/>
          <p:nvPr/>
        </p:nvSpPr>
        <p:spPr>
          <a:xfrm>
            <a:off x="6254640" y="3328560"/>
            <a:ext cx="256752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System components, state machine, grasping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2" name="Picture 26" descr="ic_camera.png"/>
          <p:cNvPicPr/>
          <p:nvPr/>
        </p:nvPicPr>
        <p:blipFill>
          <a:blip r:embed="rId4"/>
          <a:stretch/>
        </p:blipFill>
        <p:spPr>
          <a:xfrm>
            <a:off x="5833800" y="389520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TextBox 27"/>
          <p:cNvSpPr/>
          <p:nvPr/>
        </p:nvSpPr>
        <p:spPr>
          <a:xfrm>
            <a:off x="6254640" y="3877200"/>
            <a:ext cx="2567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Perception and demonstration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8"/>
          <p:cNvSpPr/>
          <p:nvPr/>
        </p:nvSpPr>
        <p:spPr>
          <a:xfrm>
            <a:off x="6254640" y="4133160"/>
            <a:ext cx="256752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Detection results and a complete run on hardware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Picture 29" descr="ic_grid.png"/>
          <p:cNvPicPr/>
          <p:nvPr/>
        </p:nvPicPr>
        <p:blipFill>
          <a:blip r:embed="rId5"/>
          <a:stretch/>
        </p:blipFill>
        <p:spPr>
          <a:xfrm>
            <a:off x="5833800" y="470016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TextBox 30"/>
          <p:cNvSpPr/>
          <p:nvPr/>
        </p:nvSpPr>
        <p:spPr>
          <a:xfrm>
            <a:off x="6254640" y="4681800"/>
            <a:ext cx="2567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Experimental results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31"/>
          <p:cNvSpPr/>
          <p:nvPr/>
        </p:nvSpPr>
        <p:spPr>
          <a:xfrm>
            <a:off x="6254640" y="4937760"/>
            <a:ext cx="256752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Detector accuracy and mission timing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Picture 32" descr="ic_check.png"/>
          <p:cNvPicPr/>
          <p:nvPr/>
        </p:nvPicPr>
        <p:blipFill>
          <a:blip r:embed="rId6"/>
          <a:stretch/>
        </p:blipFill>
        <p:spPr>
          <a:xfrm>
            <a:off x="5833800" y="550476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TextBox 33"/>
          <p:cNvSpPr/>
          <p:nvPr/>
        </p:nvSpPr>
        <p:spPr>
          <a:xfrm>
            <a:off x="6254640" y="5486400"/>
            <a:ext cx="2567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Limitations and conclusion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34"/>
          <p:cNvSpPr/>
          <p:nvPr/>
        </p:nvSpPr>
        <p:spPr>
          <a:xfrm>
            <a:off x="6254640" y="5742360"/>
            <a:ext cx="256752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Open issues, summary and future work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Problem </a:t>
            </a: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Statement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3"/>
          <p:cNvSpPr/>
          <p:nvPr/>
        </p:nvSpPr>
        <p:spPr>
          <a:xfrm>
            <a:off x="320040" y="1463040"/>
            <a:ext cx="85111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Objective and constraints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4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5"/>
          <p:cNvSpPr/>
          <p:nvPr/>
        </p:nvSpPr>
        <p:spPr>
          <a:xfrm>
            <a:off x="6775560" y="6473880"/>
            <a:ext cx="2046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3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6"/>
          <p:cNvSpPr/>
          <p:nvPr/>
        </p:nvSpPr>
        <p:spPr>
          <a:xfrm>
            <a:off x="320040" y="1847160"/>
            <a:ext cx="5073120" cy="10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46160" indent="-146160">
              <a:lnSpc>
                <a:spcPct val="125000"/>
              </a:lnSpc>
              <a:spcAft>
                <a:spcPts val="499"/>
              </a:spcAft>
              <a:buClr>
                <a:srgbClr val="64a0c8"/>
              </a:buClr>
              <a:buFont typeface="Arial"/>
              <a:buChar char="•"/>
            </a:pPr>
            <a:r>
              <a:rPr lang="de-DE" sz="12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Drink cans accumulate in indoor public spaces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25000"/>
              </a:lnSpc>
              <a:spcAft>
                <a:spcPts val="499"/>
              </a:spcAft>
              <a:buClr>
                <a:srgbClr val="64a0c8"/>
              </a:buClr>
              <a:buFont typeface="Arial"/>
              <a:buChar char="•"/>
            </a:pPr>
            <a:r>
              <a:rPr lang="de-DE" sz="12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Collection is repetitive, low risk manual work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25000"/>
              </a:lnSpc>
              <a:spcAft>
                <a:spcPts val="499"/>
              </a:spcAft>
              <a:buClr>
                <a:srgbClr val="64a0c8"/>
              </a:buClr>
              <a:buFont typeface="Arial"/>
              <a:buChar char="•"/>
            </a:pPr>
            <a:r>
              <a:rPr lang="de-DE" sz="12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The task combines perception, navigation, decision making and manipulation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6" name="Picture 7" descr="ic_search.png"/>
          <p:cNvPicPr/>
          <p:nvPr/>
        </p:nvPicPr>
        <p:blipFill>
          <a:blip r:embed="rId1"/>
          <a:stretch/>
        </p:blipFill>
        <p:spPr>
          <a:xfrm>
            <a:off x="320040" y="303588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TextBox 8"/>
          <p:cNvSpPr/>
          <p:nvPr/>
        </p:nvSpPr>
        <p:spPr>
          <a:xfrm>
            <a:off x="740520" y="3017520"/>
            <a:ext cx="465264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Detection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9"/>
          <p:cNvSpPr/>
          <p:nvPr/>
        </p:nvSpPr>
        <p:spPr>
          <a:xfrm>
            <a:off x="740520" y="3273480"/>
            <a:ext cx="46526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Rotate in place until the detector accepts a target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ectangle 10"/>
          <p:cNvSpPr/>
          <p:nvPr/>
        </p:nvSpPr>
        <p:spPr>
          <a:xfrm>
            <a:off x="461880" y="3383280"/>
            <a:ext cx="16560" cy="327240"/>
          </a:xfrm>
          <a:prstGeom prst="rect">
            <a:avLst/>
          </a:prstGeom>
          <a:solidFill>
            <a:srgbClr val="98c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80" name="Picture 11" descr="ic_send.png"/>
          <p:cNvPicPr/>
          <p:nvPr/>
        </p:nvPicPr>
        <p:blipFill>
          <a:blip r:embed="rId2"/>
          <a:stretch/>
        </p:blipFill>
        <p:spPr>
          <a:xfrm>
            <a:off x="320040" y="376740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TextBox 12"/>
          <p:cNvSpPr/>
          <p:nvPr/>
        </p:nvSpPr>
        <p:spPr>
          <a:xfrm>
            <a:off x="740520" y="3749040"/>
            <a:ext cx="465264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Approach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13"/>
          <p:cNvSpPr/>
          <p:nvPr/>
        </p:nvSpPr>
        <p:spPr>
          <a:xfrm>
            <a:off x="740520" y="4005000"/>
            <a:ext cx="46526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Steer on the image error, stop on apparent size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14"/>
          <p:cNvSpPr/>
          <p:nvPr/>
        </p:nvSpPr>
        <p:spPr>
          <a:xfrm>
            <a:off x="461880" y="4114800"/>
            <a:ext cx="16560" cy="327240"/>
          </a:xfrm>
          <a:prstGeom prst="rect">
            <a:avLst/>
          </a:prstGeom>
          <a:solidFill>
            <a:srgbClr val="98c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84" name="Picture 15" descr="ic_wrench.png"/>
          <p:cNvPicPr/>
          <p:nvPr/>
        </p:nvPicPr>
        <p:blipFill>
          <a:blip r:embed="rId3"/>
          <a:stretch/>
        </p:blipFill>
        <p:spPr>
          <a:xfrm>
            <a:off x="320040" y="449892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TextBox 16"/>
          <p:cNvSpPr/>
          <p:nvPr/>
        </p:nvSpPr>
        <p:spPr>
          <a:xfrm>
            <a:off x="740520" y="4480560"/>
            <a:ext cx="465264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Grasp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7"/>
          <p:cNvSpPr/>
          <p:nvPr/>
        </p:nvSpPr>
        <p:spPr>
          <a:xfrm>
            <a:off x="740520" y="4736520"/>
            <a:ext cx="46526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Lower the arm, push, close, lift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Rectangle 18"/>
          <p:cNvSpPr/>
          <p:nvPr/>
        </p:nvSpPr>
        <p:spPr>
          <a:xfrm>
            <a:off x="461880" y="4846320"/>
            <a:ext cx="16560" cy="327240"/>
          </a:xfrm>
          <a:prstGeom prst="rect">
            <a:avLst/>
          </a:prstGeom>
          <a:solidFill>
            <a:srgbClr val="98c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88" name="Picture 19" descr="ic_tag.png"/>
          <p:cNvPicPr/>
          <p:nvPr/>
        </p:nvPicPr>
        <p:blipFill>
          <a:blip r:embed="rId4"/>
          <a:stretch/>
        </p:blipFill>
        <p:spPr>
          <a:xfrm>
            <a:off x="320040" y="523044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TextBox 20"/>
          <p:cNvSpPr/>
          <p:nvPr/>
        </p:nvSpPr>
        <p:spPr>
          <a:xfrm>
            <a:off x="740520" y="5212080"/>
            <a:ext cx="465264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Delivery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21"/>
          <p:cNvSpPr/>
          <p:nvPr/>
        </p:nvSpPr>
        <p:spPr>
          <a:xfrm>
            <a:off x="740520" y="5468040"/>
            <a:ext cx="46526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Dock on the AprilTag and release above the bin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Rectangle 22"/>
          <p:cNvSpPr/>
          <p:nvPr/>
        </p:nvSpPr>
        <p:spPr>
          <a:xfrm>
            <a:off x="5706000" y="1847160"/>
            <a:ext cx="5400" cy="415872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23"/>
          <p:cNvSpPr/>
          <p:nvPr/>
        </p:nvSpPr>
        <p:spPr>
          <a:xfrm>
            <a:off x="5989320" y="1847160"/>
            <a:ext cx="283284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Sensor configuration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Rectangle 24"/>
          <p:cNvSpPr/>
          <p:nvPr/>
        </p:nvSpPr>
        <p:spPr>
          <a:xfrm>
            <a:off x="5989320" y="233640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25"/>
          <p:cNvSpPr/>
          <p:nvPr/>
        </p:nvSpPr>
        <p:spPr>
          <a:xfrm>
            <a:off x="6190560" y="2286000"/>
            <a:ext cx="2631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Single RGB camera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Rectangle 27"/>
          <p:cNvSpPr/>
          <p:nvPr/>
        </p:nvSpPr>
        <p:spPr>
          <a:xfrm>
            <a:off x="5989320" y="304956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28"/>
          <p:cNvSpPr/>
          <p:nvPr/>
        </p:nvSpPr>
        <p:spPr>
          <a:xfrm>
            <a:off x="6190560" y="2999160"/>
            <a:ext cx="2631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No depth sensing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Rectangle 30"/>
          <p:cNvSpPr/>
          <p:nvPr/>
        </p:nvSpPr>
        <p:spPr>
          <a:xfrm>
            <a:off x="5989320" y="376272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31"/>
          <p:cNvSpPr/>
          <p:nvPr/>
        </p:nvSpPr>
        <p:spPr>
          <a:xfrm>
            <a:off x="6190560" y="3712320"/>
            <a:ext cx="2631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No wheel encoders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Rectangle 33"/>
          <p:cNvSpPr/>
          <p:nvPr/>
        </p:nvSpPr>
        <p:spPr>
          <a:xfrm>
            <a:off x="5989320" y="447588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34"/>
          <p:cNvSpPr/>
          <p:nvPr/>
        </p:nvSpPr>
        <p:spPr>
          <a:xfrm>
            <a:off x="6190560" y="4425840"/>
            <a:ext cx="2631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No force sensing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"/>
          <p:cNvPicPr/>
          <p:nvPr/>
        </p:nvPicPr>
        <p:blipFill>
          <a:blip r:embed="rId1"/>
          <a:stretch/>
        </p:blipFill>
        <p:spPr>
          <a:xfrm>
            <a:off x="2016360" y="1620000"/>
            <a:ext cx="6802560" cy="510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"/>
          <p:cNvSpPr/>
          <p:nvPr/>
        </p:nvSpPr>
        <p:spPr>
          <a:xfrm>
            <a:off x="360000" y="553320"/>
            <a:ext cx="2848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“actors” of the show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System Architecture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3"/>
          <p:cNvSpPr/>
          <p:nvPr/>
        </p:nvSpPr>
        <p:spPr>
          <a:xfrm>
            <a:off x="320040" y="1463040"/>
            <a:ext cx="85111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Components and software framework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4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6775560" y="6473880"/>
            <a:ext cx="2046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4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6"/>
          <p:cNvSpPr/>
          <p:nvPr/>
        </p:nvSpPr>
        <p:spPr>
          <a:xfrm>
            <a:off x="320040" y="1828800"/>
            <a:ext cx="85111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Three subsystems are connected to the Jetson Nano. Only the servo chain reports its state back.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Rounded Rectangle 7"/>
          <p:cNvSpPr/>
          <p:nvPr/>
        </p:nvSpPr>
        <p:spPr>
          <a:xfrm>
            <a:off x="3611880" y="3063240"/>
            <a:ext cx="1872720" cy="866880"/>
          </a:xfrm>
          <a:prstGeom prst="roundRect">
            <a:avLst>
              <a:gd name="adj" fmla="val 8000"/>
            </a:avLst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09" name="Picture 8" descr="ic_chip.png"/>
          <p:cNvPicPr/>
          <p:nvPr/>
        </p:nvPicPr>
        <p:blipFill>
          <a:blip r:embed="rId1"/>
          <a:stretch/>
        </p:blipFill>
        <p:spPr>
          <a:xfrm>
            <a:off x="3758040" y="333756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TextBox 9"/>
          <p:cNvSpPr/>
          <p:nvPr/>
        </p:nvSpPr>
        <p:spPr>
          <a:xfrm>
            <a:off x="4142160" y="3246120"/>
            <a:ext cx="123264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12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Jetson Nano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9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 GB shared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Rounded Rectangle 10"/>
          <p:cNvSpPr/>
          <p:nvPr/>
        </p:nvSpPr>
        <p:spPr>
          <a:xfrm>
            <a:off x="502920" y="3127320"/>
            <a:ext cx="2101320" cy="729720"/>
          </a:xfrm>
          <a:prstGeom prst="roundRect">
            <a:avLst>
              <a:gd name="adj" fmla="val 8000"/>
            </a:avLst>
          </a:prstGeom>
          <a:solidFill>
            <a:srgbClr val="eff5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12" name="Picture 11" descr="ic_camera.png"/>
          <p:cNvPicPr/>
          <p:nvPr/>
        </p:nvPicPr>
        <p:blipFill>
          <a:blip r:embed="rId2"/>
          <a:stretch/>
        </p:blipFill>
        <p:spPr>
          <a:xfrm>
            <a:off x="658440" y="3319200"/>
            <a:ext cx="290880" cy="29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Box 12"/>
          <p:cNvSpPr/>
          <p:nvPr/>
        </p:nvSpPr>
        <p:spPr>
          <a:xfrm>
            <a:off x="1051560" y="3237120"/>
            <a:ext cx="146124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CSI camera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9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3200 x 2400 (at max)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4" name="Connector 13"/>
          <p:cNvCxnSpPr/>
          <p:nvPr/>
        </p:nvCxnSpPr>
        <p:spPr>
          <a:xfrm>
            <a:off x="2606040" y="3492720"/>
            <a:ext cx="1007640" cy="1800"/>
          </a:xfrm>
          <a:prstGeom prst="straightConnector1">
            <a:avLst/>
          </a:prstGeom>
          <a:ln w="19050">
            <a:solidFill>
              <a:srgbClr val="0065bd"/>
            </a:solidFill>
            <a:round/>
          </a:ln>
        </p:spPr>
      </p:cxnSp>
      <p:sp>
        <p:nvSpPr>
          <p:cNvPr id="215" name="TextBox 14"/>
          <p:cNvSpPr/>
          <p:nvPr/>
        </p:nvSpPr>
        <p:spPr>
          <a:xfrm>
            <a:off x="2670120" y="3237120"/>
            <a:ext cx="91260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de-DE" sz="900" b="1" u="none" strike="noStrike">
                <a:solidFill>
                  <a:srgbClr val="005293"/>
                </a:solidFill>
                <a:effectLst/>
                <a:uFillTx/>
                <a:latin typeface="Arial"/>
              </a:rPr>
              <a:t>CSI-2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15"/>
          <p:cNvSpPr/>
          <p:nvPr/>
        </p:nvSpPr>
        <p:spPr>
          <a:xfrm>
            <a:off x="2615040" y="3547800"/>
            <a:ext cx="100404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de-DE" sz="8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frames in</a:t>
            </a:r>
            <a:endParaRPr lang="de-DE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ounded Rectangle 16"/>
          <p:cNvSpPr/>
          <p:nvPr/>
        </p:nvSpPr>
        <p:spPr>
          <a:xfrm>
            <a:off x="6537960" y="1974960"/>
            <a:ext cx="2238480" cy="89424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18" name="Picture 17" descr="ic_tank.png"/>
          <p:cNvPicPr/>
          <p:nvPr/>
        </p:nvPicPr>
        <p:blipFill>
          <a:blip r:embed="rId3"/>
          <a:stretch/>
        </p:blipFill>
        <p:spPr>
          <a:xfrm>
            <a:off x="6693480" y="2194560"/>
            <a:ext cx="290880" cy="29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" name="TextBox 18"/>
          <p:cNvSpPr/>
          <p:nvPr/>
        </p:nvSpPr>
        <p:spPr>
          <a:xfrm>
            <a:off x="7086600" y="2103120"/>
            <a:ext cx="1598400" cy="58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Two track motors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9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PWM via motor driver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9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no position feedback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0" name="Connector 19"/>
          <p:cNvCxnSpPr/>
          <p:nvPr/>
        </p:nvCxnSpPr>
        <p:spPr>
          <a:xfrm flipV="1">
            <a:off x="5486400" y="2423160"/>
            <a:ext cx="1053360" cy="916200"/>
          </a:xfrm>
          <a:prstGeom prst="straightConnector1">
            <a:avLst/>
          </a:prstGeom>
          <a:ln w="19050">
            <a:solidFill>
              <a:srgbClr val="0065bd"/>
            </a:solidFill>
            <a:round/>
          </a:ln>
        </p:spPr>
      </p:cxnSp>
      <p:sp>
        <p:nvSpPr>
          <p:cNvPr id="221" name="Rounded Rectangle 20"/>
          <p:cNvSpPr/>
          <p:nvPr/>
        </p:nvSpPr>
        <p:spPr>
          <a:xfrm>
            <a:off x="6537960" y="3785760"/>
            <a:ext cx="2238480" cy="89424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22" name="Picture 21" descr="ic_wrench.png"/>
          <p:cNvPicPr/>
          <p:nvPr/>
        </p:nvPicPr>
        <p:blipFill>
          <a:blip r:embed="rId4"/>
          <a:stretch/>
        </p:blipFill>
        <p:spPr>
          <a:xfrm>
            <a:off x="6693480" y="4005000"/>
            <a:ext cx="290880" cy="29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TextBox 22"/>
          <p:cNvSpPr/>
          <p:nvPr/>
        </p:nvSpPr>
        <p:spPr>
          <a:xfrm>
            <a:off x="7086600" y="3913560"/>
            <a:ext cx="1598400" cy="58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Five bus servos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9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one TTL serial chain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950" b="1" u="none" strike="noStrike">
                <a:solidFill>
                  <a:srgbClr val="005293"/>
                </a:solidFill>
                <a:effectLst/>
                <a:uFillTx/>
                <a:latin typeface="Arial"/>
              </a:rPr>
              <a:t>position readable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4" name="Connector 23"/>
          <p:cNvCxnSpPr/>
          <p:nvPr/>
        </p:nvCxnSpPr>
        <p:spPr>
          <a:xfrm>
            <a:off x="5486400" y="3657600"/>
            <a:ext cx="1053360" cy="577800"/>
          </a:xfrm>
          <a:prstGeom prst="straightConnector1">
            <a:avLst/>
          </a:prstGeom>
          <a:ln w="19050">
            <a:solidFill>
              <a:srgbClr val="0065bd"/>
            </a:solidFill>
            <a:round/>
          </a:ln>
        </p:spPr>
      </p:cxnSp>
      <p:sp>
        <p:nvSpPr>
          <p:cNvPr id="225" name="Rounded Rectangle 24"/>
          <p:cNvSpPr/>
          <p:nvPr/>
        </p:nvSpPr>
        <p:spPr>
          <a:xfrm>
            <a:off x="6583680" y="4809600"/>
            <a:ext cx="345600" cy="345600"/>
          </a:xfrm>
          <a:prstGeom prst="roundRect">
            <a:avLst>
              <a:gd name="adj" fmla="val 8000"/>
            </a:avLst>
          </a:prstGeom>
          <a:solidFill>
            <a:srgbClr val="64a0c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25"/>
          <p:cNvSpPr/>
          <p:nvPr/>
        </p:nvSpPr>
        <p:spPr>
          <a:xfrm>
            <a:off x="6583680" y="4892040"/>
            <a:ext cx="34560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de-DE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S1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ounded Rectangle 26"/>
          <p:cNvSpPr/>
          <p:nvPr/>
        </p:nvSpPr>
        <p:spPr>
          <a:xfrm>
            <a:off x="7022520" y="4809600"/>
            <a:ext cx="345600" cy="345600"/>
          </a:xfrm>
          <a:prstGeom prst="roundRect">
            <a:avLst>
              <a:gd name="adj" fmla="val 8000"/>
            </a:avLst>
          </a:prstGeom>
          <a:solidFill>
            <a:srgbClr val="64a0c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27"/>
          <p:cNvSpPr/>
          <p:nvPr/>
        </p:nvSpPr>
        <p:spPr>
          <a:xfrm>
            <a:off x="7022520" y="4892040"/>
            <a:ext cx="34560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de-DE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S2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9" name="Connector 28"/>
          <p:cNvCxnSpPr/>
          <p:nvPr/>
        </p:nvCxnSpPr>
        <p:spPr>
          <a:xfrm>
            <a:off x="6931080" y="4983480"/>
            <a:ext cx="93240" cy="1800"/>
          </a:xfrm>
          <a:prstGeom prst="straightConnector1">
            <a:avLst/>
          </a:prstGeom>
          <a:ln w="12700">
            <a:solidFill>
              <a:srgbClr val="64a0c8"/>
            </a:solidFill>
            <a:round/>
          </a:ln>
        </p:spPr>
      </p:cxnSp>
      <p:sp>
        <p:nvSpPr>
          <p:cNvPr id="230" name="Rounded Rectangle 29"/>
          <p:cNvSpPr/>
          <p:nvPr/>
        </p:nvSpPr>
        <p:spPr>
          <a:xfrm>
            <a:off x="7461360" y="4809600"/>
            <a:ext cx="345600" cy="345600"/>
          </a:xfrm>
          <a:prstGeom prst="roundRect">
            <a:avLst>
              <a:gd name="adj" fmla="val 8000"/>
            </a:avLst>
          </a:prstGeom>
          <a:solidFill>
            <a:srgbClr val="64a0c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30"/>
          <p:cNvSpPr/>
          <p:nvPr/>
        </p:nvSpPr>
        <p:spPr>
          <a:xfrm>
            <a:off x="7461360" y="4892040"/>
            <a:ext cx="34560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de-DE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S3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2" name="Connector 31"/>
          <p:cNvCxnSpPr/>
          <p:nvPr/>
        </p:nvCxnSpPr>
        <p:spPr>
          <a:xfrm>
            <a:off x="7369920" y="4983480"/>
            <a:ext cx="93240" cy="1800"/>
          </a:xfrm>
          <a:prstGeom prst="straightConnector1">
            <a:avLst/>
          </a:prstGeom>
          <a:ln w="12700">
            <a:solidFill>
              <a:srgbClr val="64a0c8"/>
            </a:solidFill>
            <a:round/>
          </a:ln>
        </p:spPr>
      </p:cxnSp>
      <p:sp>
        <p:nvSpPr>
          <p:cNvPr id="233" name="Rounded Rectangle 32"/>
          <p:cNvSpPr/>
          <p:nvPr/>
        </p:nvSpPr>
        <p:spPr>
          <a:xfrm>
            <a:off x="7900560" y="4809600"/>
            <a:ext cx="345600" cy="345600"/>
          </a:xfrm>
          <a:prstGeom prst="roundRect">
            <a:avLst>
              <a:gd name="adj" fmla="val 8000"/>
            </a:avLst>
          </a:prstGeom>
          <a:solidFill>
            <a:srgbClr val="e37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33"/>
          <p:cNvSpPr/>
          <p:nvPr/>
        </p:nvSpPr>
        <p:spPr>
          <a:xfrm>
            <a:off x="7900560" y="4892040"/>
            <a:ext cx="34560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de-DE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S4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5" name="Connector 34"/>
          <p:cNvCxnSpPr/>
          <p:nvPr/>
        </p:nvCxnSpPr>
        <p:spPr>
          <a:xfrm>
            <a:off x="7808760" y="4983480"/>
            <a:ext cx="93240" cy="1800"/>
          </a:xfrm>
          <a:prstGeom prst="straightConnector1">
            <a:avLst/>
          </a:prstGeom>
          <a:ln w="12700">
            <a:solidFill>
              <a:srgbClr val="64a0c8"/>
            </a:solidFill>
            <a:round/>
          </a:ln>
        </p:spPr>
      </p:cxnSp>
      <p:sp>
        <p:nvSpPr>
          <p:cNvPr id="236" name="Rounded Rectangle 35"/>
          <p:cNvSpPr/>
          <p:nvPr/>
        </p:nvSpPr>
        <p:spPr>
          <a:xfrm>
            <a:off x="8339400" y="4809600"/>
            <a:ext cx="345600" cy="345600"/>
          </a:xfrm>
          <a:prstGeom prst="roundRect">
            <a:avLst>
              <a:gd name="adj" fmla="val 8000"/>
            </a:avLst>
          </a:prstGeom>
          <a:solidFill>
            <a:srgbClr val="64a0c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36"/>
          <p:cNvSpPr/>
          <p:nvPr/>
        </p:nvSpPr>
        <p:spPr>
          <a:xfrm>
            <a:off x="8339400" y="4892040"/>
            <a:ext cx="34560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de-DE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S5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8" name="Connector 37"/>
          <p:cNvCxnSpPr/>
          <p:nvPr/>
        </p:nvCxnSpPr>
        <p:spPr>
          <a:xfrm>
            <a:off x="8247600" y="4983480"/>
            <a:ext cx="93240" cy="1800"/>
          </a:xfrm>
          <a:prstGeom prst="straightConnector1">
            <a:avLst/>
          </a:prstGeom>
          <a:ln w="12700">
            <a:solidFill>
              <a:srgbClr val="64a0c8"/>
            </a:solidFill>
            <a:round/>
          </a:ln>
        </p:spPr>
      </p:cxnSp>
      <p:sp>
        <p:nvSpPr>
          <p:cNvPr id="239" name="TextBox 38"/>
          <p:cNvSpPr/>
          <p:nvPr/>
        </p:nvSpPr>
        <p:spPr>
          <a:xfrm>
            <a:off x="6537960" y="5230440"/>
            <a:ext cx="223848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S4 closes the gripper</a:t>
            </a:r>
            <a:endParaRPr lang="de-DE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Rounded Rectangle 39"/>
          <p:cNvSpPr/>
          <p:nvPr/>
        </p:nvSpPr>
        <p:spPr>
          <a:xfrm>
            <a:off x="502920" y="4572000"/>
            <a:ext cx="2101320" cy="63828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40"/>
          <p:cNvSpPr/>
          <p:nvPr/>
        </p:nvSpPr>
        <p:spPr>
          <a:xfrm>
            <a:off x="658440" y="4736520"/>
            <a:ext cx="1827000" cy="1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Battery and power rail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2" name="Connector 41"/>
          <p:cNvCxnSpPr/>
          <p:nvPr/>
        </p:nvCxnSpPr>
        <p:spPr>
          <a:xfrm flipV="1">
            <a:off x="1554480" y="3858480"/>
            <a:ext cx="1800" cy="715320"/>
          </a:xfrm>
          <a:prstGeom prst="straightConnector1">
            <a:avLst/>
          </a:prstGeom>
          <a:ln w="15875">
            <a:solidFill>
              <a:srgbClr val="8a8a8a"/>
            </a:solidFill>
            <a:prstDash val="dash"/>
            <a:round/>
          </a:ln>
        </p:spPr>
      </p:cxnSp>
      <p:cxnSp>
        <p:nvCxnSpPr>
          <p:cNvPr id="243" name="Connector 42"/>
          <p:cNvCxnSpPr/>
          <p:nvPr/>
        </p:nvCxnSpPr>
        <p:spPr>
          <a:xfrm>
            <a:off x="2606040" y="4892040"/>
            <a:ext cx="1940040" cy="1800"/>
          </a:xfrm>
          <a:prstGeom prst="straightConnector1">
            <a:avLst/>
          </a:prstGeom>
          <a:ln w="15875">
            <a:solidFill>
              <a:srgbClr val="8a8a8a"/>
            </a:solidFill>
            <a:prstDash val="dash"/>
            <a:round/>
          </a:ln>
        </p:spPr>
      </p:cxnSp>
      <p:cxnSp>
        <p:nvCxnSpPr>
          <p:cNvPr id="244" name="Connector 43"/>
          <p:cNvCxnSpPr/>
          <p:nvPr/>
        </p:nvCxnSpPr>
        <p:spPr>
          <a:xfrm flipV="1">
            <a:off x="4544280" y="3931920"/>
            <a:ext cx="1800" cy="961920"/>
          </a:xfrm>
          <a:prstGeom prst="straightConnector1">
            <a:avLst/>
          </a:prstGeom>
          <a:ln w="15875">
            <a:solidFill>
              <a:srgbClr val="8a8a8a"/>
            </a:solidFill>
            <a:prstDash val="dash"/>
            <a:round/>
          </a:ln>
        </p:spPr>
      </p:cxnSp>
      <p:sp>
        <p:nvSpPr>
          <p:cNvPr id="245" name="TextBox 44"/>
          <p:cNvSpPr/>
          <p:nvPr/>
        </p:nvSpPr>
        <p:spPr>
          <a:xfrm>
            <a:off x="2880360" y="4937760"/>
            <a:ext cx="146124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power</a:t>
            </a:r>
            <a:endParaRPr lang="de-DE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Rectangle 45"/>
          <p:cNvSpPr/>
          <p:nvPr/>
        </p:nvSpPr>
        <p:spPr>
          <a:xfrm>
            <a:off x="320040" y="5577840"/>
            <a:ext cx="8511120" cy="540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7800" bIns="-378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46"/>
          <p:cNvSpPr/>
          <p:nvPr/>
        </p:nvSpPr>
        <p:spPr>
          <a:xfrm>
            <a:off x="320040" y="5706000"/>
            <a:ext cx="27414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Software stack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Rectangle 47"/>
          <p:cNvSpPr/>
          <p:nvPr/>
        </p:nvSpPr>
        <p:spPr>
          <a:xfrm>
            <a:off x="320040" y="6016680"/>
            <a:ext cx="66960" cy="144360"/>
          </a:xfrm>
          <a:prstGeom prst="rect">
            <a:avLst/>
          </a:prstGeom>
          <a:solidFill>
            <a:srgbClr val="00529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48"/>
          <p:cNvSpPr/>
          <p:nvPr/>
        </p:nvSpPr>
        <p:spPr>
          <a:xfrm>
            <a:off x="466200" y="5970960"/>
            <a:ext cx="19641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0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Controller layer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49"/>
          <p:cNvSpPr/>
          <p:nvPr/>
        </p:nvSpPr>
        <p:spPr>
          <a:xfrm>
            <a:off x="466200" y="6163200"/>
            <a:ext cx="196416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4000"/>
              </a:lnSpc>
            </a:pPr>
            <a:r>
              <a:rPr lang="de-DE" sz="9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demo_core state machine, 16 states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Rectangle 50"/>
          <p:cNvSpPr/>
          <p:nvPr/>
        </p:nvSpPr>
        <p:spPr>
          <a:xfrm>
            <a:off x="2487240" y="601668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51"/>
          <p:cNvSpPr/>
          <p:nvPr/>
        </p:nvSpPr>
        <p:spPr>
          <a:xfrm>
            <a:off x="2633400" y="5970960"/>
            <a:ext cx="19641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0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Perception layer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52"/>
          <p:cNvSpPr/>
          <p:nvPr/>
        </p:nvSpPr>
        <p:spPr>
          <a:xfrm>
            <a:off x="2633400" y="6163200"/>
            <a:ext cx="196416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4000"/>
              </a:lnSpc>
            </a:pPr>
            <a:r>
              <a:rPr lang="de-DE" sz="9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detectNet, pupil_apriltags, OpenCV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Rectangle 53"/>
          <p:cNvSpPr/>
          <p:nvPr/>
        </p:nvSpPr>
        <p:spPr>
          <a:xfrm>
            <a:off x="4654440" y="6016680"/>
            <a:ext cx="66960" cy="144360"/>
          </a:xfrm>
          <a:prstGeom prst="rect">
            <a:avLst/>
          </a:prstGeom>
          <a:solidFill>
            <a:srgbClr val="64a0c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54"/>
          <p:cNvSpPr/>
          <p:nvPr/>
        </p:nvSpPr>
        <p:spPr>
          <a:xfrm>
            <a:off x="4800600" y="5970960"/>
            <a:ext cx="19641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0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Hardware layer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55"/>
          <p:cNvSpPr/>
          <p:nvPr/>
        </p:nvSpPr>
        <p:spPr>
          <a:xfrm>
            <a:off x="4800600" y="6163200"/>
            <a:ext cx="196416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4000"/>
              </a:lnSpc>
            </a:pPr>
            <a:r>
              <a:rPr lang="de-DE" sz="9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jetbot Robot and Camera, TTLServo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Rectangle 56"/>
          <p:cNvSpPr/>
          <p:nvPr/>
        </p:nvSpPr>
        <p:spPr>
          <a:xfrm>
            <a:off x="6821280" y="6016680"/>
            <a:ext cx="66960" cy="144360"/>
          </a:xfrm>
          <a:prstGeom prst="rect">
            <a:avLst/>
          </a:prstGeom>
          <a:solidFill>
            <a:srgbClr val="98c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57"/>
          <p:cNvSpPr/>
          <p:nvPr/>
        </p:nvSpPr>
        <p:spPr>
          <a:xfrm>
            <a:off x="6967800" y="5970960"/>
            <a:ext cx="19641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0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Configuration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58"/>
          <p:cNvSpPr/>
          <p:nvPr/>
        </p:nvSpPr>
        <p:spPr>
          <a:xfrm>
            <a:off x="6967800" y="6163200"/>
            <a:ext cx="1964160" cy="31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4000"/>
              </a:lnSpc>
            </a:pPr>
            <a:r>
              <a:rPr lang="de-DE" sz="9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config.json, empirical_parameters.json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4000"/>
              </a:lnSpc>
            </a:pPr>
            <a:r>
              <a:rPr lang="de-DE" sz="9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camera_calibration.yml etc.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System design using from a (informal)FSM view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3"/>
          <p:cNvSpPr/>
          <p:nvPr/>
        </p:nvSpPr>
        <p:spPr>
          <a:xfrm>
            <a:off x="320040" y="1463040"/>
            <a:ext cx="85111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Controller with many detail omitted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4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5"/>
          <p:cNvSpPr/>
          <p:nvPr/>
        </p:nvSpPr>
        <p:spPr>
          <a:xfrm>
            <a:off x="6775560" y="6473880"/>
            <a:ext cx="2046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5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Box 7"/>
          <p:cNvSpPr/>
          <p:nvPr/>
        </p:nvSpPr>
        <p:spPr>
          <a:xfrm>
            <a:off x="320040" y="5175360"/>
            <a:ext cx="48445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9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Design level state graph. Transition guards are fields of a single shared context object.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Rectangle 8"/>
          <p:cNvSpPr/>
          <p:nvPr/>
        </p:nvSpPr>
        <p:spPr>
          <a:xfrm>
            <a:off x="5321880" y="2011680"/>
            <a:ext cx="5400" cy="361008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9"/>
          <p:cNvSpPr/>
          <p:nvPr/>
        </p:nvSpPr>
        <p:spPr>
          <a:xfrm>
            <a:off x="5532120" y="2011680"/>
            <a:ext cx="32900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Vision driven states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Rectangle 10"/>
          <p:cNvSpPr/>
          <p:nvPr/>
        </p:nvSpPr>
        <p:spPr>
          <a:xfrm>
            <a:off x="5532120" y="242784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11"/>
          <p:cNvSpPr/>
          <p:nvPr/>
        </p:nvSpPr>
        <p:spPr>
          <a:xfrm>
            <a:off x="5733360" y="2377440"/>
            <a:ext cx="3088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Searching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2"/>
          <p:cNvSpPr/>
          <p:nvPr/>
        </p:nvSpPr>
        <p:spPr>
          <a:xfrm>
            <a:off x="5733360" y="2597040"/>
            <a:ext cx="3088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9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Rotate until a target is accepted or the timeout expires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Rectangle 13"/>
          <p:cNvSpPr/>
          <p:nvPr/>
        </p:nvSpPr>
        <p:spPr>
          <a:xfrm>
            <a:off x="5532120" y="297648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14"/>
          <p:cNvSpPr/>
          <p:nvPr/>
        </p:nvSpPr>
        <p:spPr>
          <a:xfrm>
            <a:off x="5733360" y="2926080"/>
            <a:ext cx="3088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Aligning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15"/>
          <p:cNvSpPr/>
          <p:nvPr/>
        </p:nvSpPr>
        <p:spPr>
          <a:xfrm>
            <a:off x="5733360" y="3145680"/>
            <a:ext cx="3088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9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Turn to tolerance, abort if the target is lost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Rectangle 16"/>
          <p:cNvSpPr/>
          <p:nvPr/>
        </p:nvSpPr>
        <p:spPr>
          <a:xfrm>
            <a:off x="5532120" y="352512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17"/>
          <p:cNvSpPr/>
          <p:nvPr/>
        </p:nvSpPr>
        <p:spPr>
          <a:xfrm>
            <a:off x="5733360" y="3474720"/>
            <a:ext cx="3088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Approaching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18"/>
          <p:cNvSpPr/>
          <p:nvPr/>
        </p:nvSpPr>
        <p:spPr>
          <a:xfrm>
            <a:off x="5733360" y="3694320"/>
            <a:ext cx="3088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9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Steer or drive forward, stop on apparent size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Rectangle 19"/>
          <p:cNvSpPr/>
          <p:nvPr/>
        </p:nvSpPr>
        <p:spPr>
          <a:xfrm>
            <a:off x="5532120" y="407376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20"/>
          <p:cNvSpPr/>
          <p:nvPr/>
        </p:nvSpPr>
        <p:spPr>
          <a:xfrm>
            <a:off x="5733360" y="4023360"/>
            <a:ext cx="3088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Final verification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Box 21"/>
          <p:cNvSpPr/>
          <p:nvPr/>
        </p:nvSpPr>
        <p:spPr>
          <a:xfrm>
            <a:off x="5733360" y="4242960"/>
            <a:ext cx="3088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9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Tighter tolerance over consecutive frames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Rounded Rectangle 22"/>
          <p:cNvSpPr/>
          <p:nvPr/>
        </p:nvSpPr>
        <p:spPr>
          <a:xfrm>
            <a:off x="5532120" y="4626720"/>
            <a:ext cx="3290040" cy="985680"/>
          </a:xfrm>
          <a:prstGeom prst="roundRect">
            <a:avLst>
              <a:gd name="adj" fmla="val 8000"/>
            </a:avLst>
          </a:prstGeom>
          <a:solidFill>
            <a:srgbClr val="eff5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23"/>
          <p:cNvSpPr/>
          <p:nvPr/>
        </p:nvSpPr>
        <p:spPr>
          <a:xfrm>
            <a:off x="5687640" y="4736520"/>
            <a:ext cx="30157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4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e</a:t>
            </a:r>
            <a:r>
              <a:rPr lang="de-DE" sz="9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x</a:t>
            </a:r>
            <a:r>
              <a:rPr lang="de-DE" sz="14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 = ( x</a:t>
            </a:r>
            <a:r>
              <a:rPr lang="de-DE" sz="9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c</a:t>
            </a:r>
            <a:r>
              <a:rPr lang="de-DE" sz="14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 - W/2 ) / W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24"/>
          <p:cNvSpPr/>
          <p:nvPr/>
        </p:nvSpPr>
        <p:spPr>
          <a:xfrm>
            <a:off x="5687640" y="5102280"/>
            <a:ext cx="301572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46160" indent="-146160">
              <a:lnSpc>
                <a:spcPct val="114000"/>
              </a:lnSpc>
              <a:buClr>
                <a:srgbClr val="0065bd"/>
              </a:buClr>
              <a:buFont typeface="Arial"/>
              <a:buChar char="•"/>
            </a:pPr>
            <a:r>
              <a:rPr lang="de-DE" sz="9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Range -0.5 to 0.5, negative to the left of centre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4000"/>
              </a:lnSpc>
              <a:buClr>
                <a:srgbClr val="0065bd"/>
              </a:buClr>
              <a:buFont typeface="Arial"/>
              <a:buChar char="•"/>
            </a:pPr>
            <a:r>
              <a:rPr lang="de-DE" sz="9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Stop thresholds: 0.36 box height, 0.15 tag height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Rectangle 25"/>
          <p:cNvSpPr/>
          <p:nvPr/>
        </p:nvSpPr>
        <p:spPr>
          <a:xfrm>
            <a:off x="320040" y="5742360"/>
            <a:ext cx="8511120" cy="540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7800" bIns="-378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26"/>
          <p:cNvSpPr/>
          <p:nvPr/>
        </p:nvSpPr>
        <p:spPr>
          <a:xfrm>
            <a:off x="320040" y="5888880"/>
            <a:ext cx="8511120" cy="3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46160" indent="-146160">
              <a:lnSpc>
                <a:spcPct val="118000"/>
              </a:lnSpc>
              <a:spcAft>
                <a:spcPts val="99"/>
              </a:spcAft>
              <a:buClr>
                <a:srgbClr val="64a0c8"/>
              </a:buClr>
              <a:buFont typeface="Arial"/>
              <a:buChar char="•"/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Transitions are held in an explicit table, so an undeclared state and event pair raises an error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8000"/>
              </a:lnSpc>
              <a:spcAft>
                <a:spcPts val="99"/>
              </a:spcAft>
              <a:buClr>
                <a:srgbClr val="64a0c8"/>
              </a:buClr>
              <a:buFont typeface="Arial"/>
              <a:buChar char="•"/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Finalising requires a stable target, a condition map based navigation never reaches, so dead reckoning triggers no action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4" name=""/>
          <p:cNvPicPr/>
          <p:nvPr/>
        </p:nvPicPr>
        <p:blipFill>
          <a:blip r:embed="rId1"/>
          <a:stretch/>
        </p:blipFill>
        <p:spPr>
          <a:xfrm>
            <a:off x="235800" y="1718640"/>
            <a:ext cx="4672440" cy="3455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"/>
          <p:cNvPicPr/>
          <p:nvPr/>
        </p:nvPicPr>
        <p:blipFill>
          <a:blip r:embed="rId1"/>
          <a:stretch/>
        </p:blipFill>
        <p:spPr>
          <a:xfrm>
            <a:off x="375120" y="720000"/>
            <a:ext cx="7786800" cy="5758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"/>
          <p:cNvPicPr/>
          <p:nvPr/>
        </p:nvPicPr>
        <p:blipFill>
          <a:blip r:embed="rId1"/>
          <a:stretch/>
        </p:blipFill>
        <p:spPr>
          <a:xfrm>
            <a:off x="-180000" y="2697840"/>
            <a:ext cx="9142200" cy="234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7" name=""/>
          <p:cNvSpPr/>
          <p:nvPr/>
        </p:nvSpPr>
        <p:spPr>
          <a:xfrm>
            <a:off x="180000" y="553680"/>
            <a:ext cx="6203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Finalizing: abstraction of docking at bin and picking up cans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"/>
          <p:cNvSpPr/>
          <p:nvPr/>
        </p:nvSpPr>
        <p:spPr>
          <a:xfrm>
            <a:off x="180000" y="553680"/>
            <a:ext cx="2848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Side-docking? Why need?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180360" y="553680"/>
            <a:ext cx="2848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Side-docking? Why need?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0" name=""/>
          <p:cNvPicPr/>
          <p:nvPr/>
        </p:nvPicPr>
        <p:blipFill>
          <a:blip r:embed="rId1"/>
          <a:stretch/>
        </p:blipFill>
        <p:spPr>
          <a:xfrm>
            <a:off x="5047920" y="1450440"/>
            <a:ext cx="3952080" cy="3589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1" name=""/>
          <p:cNvPicPr/>
          <p:nvPr/>
        </p:nvPicPr>
        <p:blipFill>
          <a:blip r:embed="rId2"/>
          <a:stretch/>
        </p:blipFill>
        <p:spPr>
          <a:xfrm>
            <a:off x="-540000" y="1846080"/>
            <a:ext cx="4898520" cy="283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2" name=""/>
          <p:cNvSpPr/>
          <p:nvPr/>
        </p:nvSpPr>
        <p:spPr>
          <a:xfrm>
            <a:off x="211320" y="4860000"/>
            <a:ext cx="325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we called “front docking”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"/>
          <p:cNvSpPr/>
          <p:nvPr/>
        </p:nvSpPr>
        <p:spPr>
          <a:xfrm>
            <a:off x="5266440" y="5220000"/>
            <a:ext cx="3877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Side-docking or say left-turn docking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"/>
          <p:cNvSpPr/>
          <p:nvPr/>
        </p:nvSpPr>
        <p:spPr>
          <a:xfrm>
            <a:off x="3547080" y="5760000"/>
            <a:ext cx="5452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Using “traditional relocalization” in the lecture slides.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Impl. supported by OpenCV SolvePnP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"/>
          <p:cNvSpPr/>
          <p:nvPr/>
        </p:nvSpPr>
        <p:spPr>
          <a:xfrm>
            <a:off x="180360" y="553680"/>
            <a:ext cx="8808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ground is a 2-dimensional space, to get back to the start point(has many benifits)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 precisely as possible, we need to correct both the “z” and “x” coordinates!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"/>
          <p:cNvSpPr/>
          <p:nvPr/>
        </p:nvSpPr>
        <p:spPr>
          <a:xfrm>
            <a:off x="150840" y="2173680"/>
            <a:ext cx="75877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Still didn’t solve the whole problem..but better than „no stance“ docking.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 ideal approach require stronger kinematic analysis and modeling instead of just naive discrete state workaround.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7" name=""/>
          <p:cNvPicPr/>
          <p:nvPr/>
        </p:nvPicPr>
        <p:blipFill>
          <a:blip r:embed="rId1"/>
          <a:stretch/>
        </p:blipFill>
        <p:spPr>
          <a:xfrm>
            <a:off x="396720" y="2700000"/>
            <a:ext cx="8243280" cy="338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8" name=""/>
          <p:cNvPicPr/>
          <p:nvPr/>
        </p:nvPicPr>
        <p:blipFill>
          <a:blip r:embed="rId2"/>
          <a:stretch/>
        </p:blipFill>
        <p:spPr>
          <a:xfrm>
            <a:off x="180000" y="542160"/>
            <a:ext cx="5569920" cy="35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"/>
          <p:cNvSpPr/>
          <p:nvPr/>
        </p:nvSpPr>
        <p:spPr>
          <a:xfrm>
            <a:off x="226080" y="1076400"/>
            <a:ext cx="5403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⬆The “benifit”, an invariant that looked like a thing..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"/>
          <p:cNvPicPr/>
          <p:nvPr/>
        </p:nvPicPr>
        <p:blipFill>
          <a:blip r:embed="rId1"/>
          <a:stretch/>
        </p:blipFill>
        <p:spPr>
          <a:xfrm>
            <a:off x="396720" y="1620000"/>
            <a:ext cx="7883280" cy="409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1" name=""/>
          <p:cNvSpPr/>
          <p:nvPr/>
        </p:nvSpPr>
        <p:spPr>
          <a:xfrm>
            <a:off x="180000" y="553680"/>
            <a:ext cx="82425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re-localization design origin(CPS slides):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Here: GPS=AprilTag,  Dead reckoning done by calibrated “speed” look-up table.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"/>
          <p:cNvSpPr/>
          <p:nvPr/>
        </p:nvSpPr>
        <p:spPr>
          <a:xfrm>
            <a:off x="396720" y="5661000"/>
            <a:ext cx="42804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It’s so hard to implement 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with our plant...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"/>
          <p:cNvSpPr/>
          <p:nvPr/>
        </p:nvSpPr>
        <p:spPr>
          <a:xfrm>
            <a:off x="180360" y="554040"/>
            <a:ext cx="8650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robot.forward(„speed“): argument in the TTLServo function calls → implemented by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Voltage.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"/>
          <p:cNvSpPr/>
          <p:nvPr/>
        </p:nvSpPr>
        <p:spPr>
          <a:xfrm>
            <a:off x="180000" y="1521720"/>
            <a:ext cx="3076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dynamic model exist?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>
            <a:off x="4696920" y="1620000"/>
            <a:ext cx="37620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lang="de-DE" sz="1000" b="0" u="none" strike="noStrike">
              <a:solidFill>
                <a:srgbClr val="000000"/>
              </a:solidFill>
              <a:effectLst/>
              <a:uFillTx/>
              <a:latin typeface="NSimSun;Liberation Mono;Courier New"/>
              <a:ea typeface="NSimSun;Liberation Mono;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"/>
          <p:cNvSpPr/>
          <p:nvPr/>
        </p:nvSpPr>
        <p:spPr>
          <a:xfrm>
            <a:off x="180360" y="554040"/>
            <a:ext cx="8650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robot.forward(„speed“): argument in the TTLServo function calls → implemented by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Voltage.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180000" y="1521720"/>
            <a:ext cx="88459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dynamic model exist? Kind of, but for our very fragile (limited sensing) system,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precision still leads to a excess of the tolerance.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"/>
          <p:cNvSpPr/>
          <p:nvPr/>
        </p:nvSpPr>
        <p:spPr>
          <a:xfrm>
            <a:off x="4696920" y="1620000"/>
            <a:ext cx="37620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lang="de-DE" sz="1000" b="0" u="none" strike="noStrike">
              <a:solidFill>
                <a:srgbClr val="000000"/>
              </a:solidFill>
              <a:effectLst/>
              <a:uFillTx/>
              <a:latin typeface="NSimSun;Liberation Mono;Courier New"/>
              <a:ea typeface="NSimSun;Liberation Mono;Courier New"/>
            </a:endParaRPr>
          </a:p>
        </p:txBody>
      </p:sp>
      <p:pic>
        <p:nvPicPr>
          <p:cNvPr id="309" name=""/>
          <p:cNvPicPr/>
          <p:nvPr/>
        </p:nvPicPr>
        <p:blipFill>
          <a:blip r:embed="rId1"/>
          <a:stretch/>
        </p:blipFill>
        <p:spPr>
          <a:xfrm>
            <a:off x="540000" y="2340000"/>
            <a:ext cx="5940000" cy="3712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"/>
          <p:cNvSpPr/>
          <p:nvPr/>
        </p:nvSpPr>
        <p:spPr>
          <a:xfrm>
            <a:off x="180360" y="1522080"/>
            <a:ext cx="89604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Our (Stupid) Solution: Look-up table with fixed “internal speed” parameters and tie it to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enviroment e.g. the ground in the lecture hall in Weiperstrasse.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180000" y="441720"/>
            <a:ext cx="7803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Smart Solution: Taking chip tempreture, friction coefficient,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slipping/drifting factor etc. into account. Solve a linear/quadratic system etc.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"/>
          <p:cNvSpPr/>
          <p:nvPr/>
        </p:nvSpPr>
        <p:spPr>
          <a:xfrm>
            <a:off x="324720" y="5841720"/>
            <a:ext cx="7384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calibrate/test it again in somewhere else...troublesome but works.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3" name=""/>
          <p:cNvPicPr/>
          <p:nvPr/>
        </p:nvPicPr>
        <p:blipFill>
          <a:blip r:embed="rId1"/>
          <a:stretch/>
        </p:blipFill>
        <p:spPr>
          <a:xfrm>
            <a:off x="906120" y="2168280"/>
            <a:ext cx="6473880" cy="3673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Can Grasping Strategy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Box 3"/>
          <p:cNvSpPr/>
          <p:nvPr/>
        </p:nvSpPr>
        <p:spPr>
          <a:xfrm>
            <a:off x="320040" y="1463040"/>
            <a:ext cx="85111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Manipulation sequence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4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Box 5"/>
          <p:cNvSpPr/>
          <p:nvPr/>
        </p:nvSpPr>
        <p:spPr>
          <a:xfrm>
            <a:off x="6775560" y="6473880"/>
            <a:ext cx="2046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6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Box 6"/>
          <p:cNvSpPr/>
          <p:nvPr/>
        </p:nvSpPr>
        <p:spPr>
          <a:xfrm>
            <a:off x="320040" y="1828800"/>
            <a:ext cx="851112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Fixed poses — no inverse kinematics(since no sensor on the gripper)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Rounded Rectangle 7"/>
          <p:cNvSpPr/>
          <p:nvPr/>
        </p:nvSpPr>
        <p:spPr>
          <a:xfrm>
            <a:off x="320040" y="2157840"/>
            <a:ext cx="1296720" cy="104076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8"/>
          <p:cNvSpPr/>
          <p:nvPr/>
        </p:nvSpPr>
        <p:spPr>
          <a:xfrm>
            <a:off x="448200" y="2267640"/>
            <a:ext cx="10407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9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1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Box 9"/>
          <p:cNvSpPr/>
          <p:nvPr/>
        </p:nvSpPr>
        <p:spPr>
          <a:xfrm>
            <a:off x="448200" y="2468880"/>
            <a:ext cx="104076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Wait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Box 10"/>
          <p:cNvSpPr/>
          <p:nvPr/>
        </p:nvSpPr>
        <p:spPr>
          <a:xfrm>
            <a:off x="448200" y="2706480"/>
            <a:ext cx="104076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</a:pPr>
            <a:r>
              <a:rPr lang="de-DE" sz="8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2.0 s settle</a:t>
            </a:r>
            <a:endParaRPr lang="de-DE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Rounded Rectangle 11"/>
          <p:cNvSpPr/>
          <p:nvPr/>
        </p:nvSpPr>
        <p:spPr>
          <a:xfrm>
            <a:off x="1691640" y="2157840"/>
            <a:ext cx="1296720" cy="104076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Box 12"/>
          <p:cNvSpPr/>
          <p:nvPr/>
        </p:nvSpPr>
        <p:spPr>
          <a:xfrm>
            <a:off x="1819800" y="2267640"/>
            <a:ext cx="10407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9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2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Box 13"/>
          <p:cNvSpPr/>
          <p:nvPr/>
        </p:nvSpPr>
        <p:spPr>
          <a:xfrm>
            <a:off x="1819800" y="2468880"/>
            <a:ext cx="104076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Lower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Box 14"/>
          <p:cNvSpPr/>
          <p:nvPr/>
        </p:nvSpPr>
        <p:spPr>
          <a:xfrm>
            <a:off x="1819800" y="2706480"/>
            <a:ext cx="104076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</a:pPr>
            <a:r>
              <a:rPr lang="de-DE" sz="8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arm_down pose</a:t>
            </a:r>
            <a:endParaRPr lang="de-DE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Rounded Rectangle 15"/>
          <p:cNvSpPr/>
          <p:nvPr/>
        </p:nvSpPr>
        <p:spPr>
          <a:xfrm>
            <a:off x="3063240" y="2157840"/>
            <a:ext cx="1296720" cy="1040760"/>
          </a:xfrm>
          <a:prstGeom prst="roundRect">
            <a:avLst>
              <a:gd name="adj" fmla="val 8000"/>
            </a:avLst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Box 16"/>
          <p:cNvSpPr/>
          <p:nvPr/>
        </p:nvSpPr>
        <p:spPr>
          <a:xfrm>
            <a:off x="3191400" y="2267640"/>
            <a:ext cx="10407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Box 17"/>
          <p:cNvSpPr/>
          <p:nvPr/>
        </p:nvSpPr>
        <p:spPr>
          <a:xfrm>
            <a:off x="3191400" y="2468880"/>
            <a:ext cx="104076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Push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Box 18"/>
          <p:cNvSpPr/>
          <p:nvPr/>
        </p:nvSpPr>
        <p:spPr>
          <a:xfrm>
            <a:off x="3191400" y="2706480"/>
            <a:ext cx="104076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</a:pPr>
            <a:r>
              <a:rPr lang="de-DE" sz="8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Slow forward drive</a:t>
            </a:r>
            <a:endParaRPr lang="de-DE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Rounded Rectangle 19"/>
          <p:cNvSpPr/>
          <p:nvPr/>
        </p:nvSpPr>
        <p:spPr>
          <a:xfrm>
            <a:off x="4434840" y="2157840"/>
            <a:ext cx="1296720" cy="104076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Box 20"/>
          <p:cNvSpPr/>
          <p:nvPr/>
        </p:nvSpPr>
        <p:spPr>
          <a:xfrm>
            <a:off x="4563000" y="2267640"/>
            <a:ext cx="10407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9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4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21"/>
          <p:cNvSpPr/>
          <p:nvPr/>
        </p:nvSpPr>
        <p:spPr>
          <a:xfrm>
            <a:off x="4563000" y="2468880"/>
            <a:ext cx="104076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Hold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Box 22"/>
          <p:cNvSpPr/>
          <p:nvPr/>
        </p:nvSpPr>
        <p:spPr>
          <a:xfrm>
            <a:off x="4563000" y="2706480"/>
            <a:ext cx="104076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</a:pPr>
            <a:r>
              <a:rPr lang="de-DE" sz="8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5.0 s lock</a:t>
            </a:r>
            <a:endParaRPr lang="de-DE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Rounded Rectangle 23"/>
          <p:cNvSpPr/>
          <p:nvPr/>
        </p:nvSpPr>
        <p:spPr>
          <a:xfrm>
            <a:off x="5806440" y="2157840"/>
            <a:ext cx="1296720" cy="104076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Box 24"/>
          <p:cNvSpPr/>
          <p:nvPr/>
        </p:nvSpPr>
        <p:spPr>
          <a:xfrm>
            <a:off x="5934600" y="2267640"/>
            <a:ext cx="10407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9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5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25"/>
          <p:cNvSpPr/>
          <p:nvPr/>
        </p:nvSpPr>
        <p:spPr>
          <a:xfrm>
            <a:off x="5934600" y="2468880"/>
            <a:ext cx="104076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Close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Box 26"/>
          <p:cNvSpPr/>
          <p:nvPr/>
        </p:nvSpPr>
        <p:spPr>
          <a:xfrm>
            <a:off x="5934600" y="2706480"/>
            <a:ext cx="104076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</a:pPr>
            <a:r>
              <a:rPr lang="de-DE" sz="8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Grab pose</a:t>
            </a:r>
            <a:endParaRPr lang="de-DE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Rounded Rectangle 27"/>
          <p:cNvSpPr/>
          <p:nvPr/>
        </p:nvSpPr>
        <p:spPr>
          <a:xfrm>
            <a:off x="7178040" y="2157840"/>
            <a:ext cx="1296720" cy="104076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Box 28"/>
          <p:cNvSpPr/>
          <p:nvPr/>
        </p:nvSpPr>
        <p:spPr>
          <a:xfrm>
            <a:off x="7306200" y="2267640"/>
            <a:ext cx="10407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9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6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Box 29"/>
          <p:cNvSpPr/>
          <p:nvPr/>
        </p:nvSpPr>
        <p:spPr>
          <a:xfrm>
            <a:off x="7306200" y="2468880"/>
            <a:ext cx="104076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Lift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Box 30"/>
          <p:cNvSpPr/>
          <p:nvPr/>
        </p:nvSpPr>
        <p:spPr>
          <a:xfrm>
            <a:off x="7306200" y="2706480"/>
            <a:ext cx="104076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</a:pPr>
            <a:r>
              <a:rPr lang="de-DE" sz="8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Carry pose</a:t>
            </a:r>
            <a:endParaRPr lang="de-DE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3" name="Picture 31" descr="grasp_sequence.jpg"/>
          <p:cNvPicPr/>
          <p:nvPr/>
        </p:nvPicPr>
        <p:blipFill>
          <a:blip r:embed="rId1"/>
          <a:stretch/>
        </p:blipFill>
        <p:spPr>
          <a:xfrm>
            <a:off x="320040" y="3346560"/>
            <a:ext cx="3655800" cy="274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Box 32"/>
          <p:cNvSpPr/>
          <p:nvPr/>
        </p:nvSpPr>
        <p:spPr>
          <a:xfrm>
            <a:off x="320040" y="6144840"/>
            <a:ext cx="365580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9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Verify · push · close · carry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Box 33"/>
          <p:cNvSpPr/>
          <p:nvPr/>
        </p:nvSpPr>
        <p:spPr>
          <a:xfrm>
            <a:off x="4224600" y="3346560"/>
            <a:ext cx="45975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0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Why push, not reach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Box 34"/>
          <p:cNvSpPr/>
          <p:nvPr/>
        </p:nvSpPr>
        <p:spPr>
          <a:xfrm>
            <a:off x="4224600" y="3657600"/>
            <a:ext cx="4597560" cy="101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46160" indent="-146160">
              <a:lnSpc>
                <a:spcPct val="118000"/>
              </a:lnSpc>
              <a:spcAft>
                <a:spcPts val="499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Short arm, imprecise gripper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8000"/>
              </a:lnSpc>
              <a:spcAft>
                <a:spcPts val="499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Base drives reliably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8000"/>
              </a:lnSpc>
              <a:spcAft>
                <a:spcPts val="499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Can driven into open gripper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8000"/>
              </a:lnSpc>
              <a:spcAft>
                <a:spcPts val="499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Coarse motion beats fine manipulation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Box 35"/>
          <p:cNvSpPr/>
          <p:nvPr/>
        </p:nvSpPr>
        <p:spPr>
          <a:xfrm>
            <a:off x="4224600" y="4809600"/>
            <a:ext cx="45975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Servo feedback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Box 36"/>
          <p:cNvSpPr/>
          <p:nvPr/>
        </p:nvSpPr>
        <p:spPr>
          <a:xfrm>
            <a:off x="4224600" y="5120640"/>
            <a:ext cx="4597560" cy="74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46160" indent="-146160">
              <a:lnSpc>
                <a:spcPct val="118000"/>
              </a:lnSpc>
              <a:spcAft>
                <a:spcPts val="499"/>
              </a:spcAft>
              <a:buClr>
                <a:srgbClr val="64a0c8"/>
              </a:buClr>
              <a:buFont typeface="Arial"/>
              <a:buChar char="•"/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Polled until readings stabilise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8000"/>
              </a:lnSpc>
              <a:spcAft>
                <a:spcPts val="499"/>
              </a:spcAft>
              <a:buClr>
                <a:srgbClr val="64a0c8"/>
              </a:buClr>
              <a:buFont typeface="Arial"/>
              <a:buChar char="•"/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Push blocked until settled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8000"/>
              </a:lnSpc>
              <a:spcAft>
                <a:spcPts val="499"/>
              </a:spcAft>
              <a:buClr>
                <a:srgbClr val="64a0c8"/>
              </a:buClr>
              <a:buFont typeface="Arial"/>
              <a:buChar char="•"/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4.94 s settle · 7.0 s push · 5.0 s hold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Experimental Setup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Box 4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Box 5"/>
          <p:cNvSpPr/>
          <p:nvPr/>
        </p:nvSpPr>
        <p:spPr>
          <a:xfrm>
            <a:off x="6775560" y="6473880"/>
            <a:ext cx="2046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7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2" name="Picture 6" descr="robot_platform.jpg"/>
          <p:cNvPicPr/>
          <p:nvPr/>
        </p:nvPicPr>
        <p:blipFill>
          <a:blip r:embed="rId1"/>
          <a:stretch/>
        </p:blipFill>
        <p:spPr>
          <a:xfrm>
            <a:off x="320040" y="2011680"/>
            <a:ext cx="2558520" cy="1735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3" name="Picture 7" descr="targets_and_bin.jpg"/>
          <p:cNvPicPr/>
          <p:nvPr/>
        </p:nvPicPr>
        <p:blipFill>
          <a:blip r:embed="rId2"/>
          <a:stretch/>
        </p:blipFill>
        <p:spPr>
          <a:xfrm>
            <a:off x="3008520" y="2011680"/>
            <a:ext cx="2604240" cy="1735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4" name="Picture 8" descr="bin_release.jpg"/>
          <p:cNvPicPr/>
          <p:nvPr/>
        </p:nvPicPr>
        <p:blipFill>
          <a:blip r:embed="rId3"/>
          <a:stretch/>
        </p:blipFill>
        <p:spPr>
          <a:xfrm>
            <a:off x="5742360" y="2011680"/>
            <a:ext cx="3080520" cy="173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5" name="TextBox 9"/>
          <p:cNvSpPr/>
          <p:nvPr/>
        </p:nvSpPr>
        <p:spPr>
          <a:xfrm>
            <a:off x="320040" y="3877200"/>
            <a:ext cx="255852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9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Platform with grasped can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10"/>
          <p:cNvSpPr/>
          <p:nvPr/>
        </p:nvSpPr>
        <p:spPr>
          <a:xfrm>
            <a:off x="3008520" y="3877200"/>
            <a:ext cx="260424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9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Arena: can, AprilTag bin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Box 11"/>
          <p:cNvSpPr/>
          <p:nvPr/>
        </p:nvSpPr>
        <p:spPr>
          <a:xfrm>
            <a:off x="5742360" y="3877200"/>
            <a:ext cx="307980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9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Release above bin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Rectangle 12"/>
          <p:cNvSpPr/>
          <p:nvPr/>
        </p:nvSpPr>
        <p:spPr>
          <a:xfrm>
            <a:off x="320040" y="4498920"/>
            <a:ext cx="8511120" cy="540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7800" bIns="-378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Box 13"/>
          <p:cNvSpPr/>
          <p:nvPr/>
        </p:nvSpPr>
        <p:spPr>
          <a:xfrm>
            <a:off x="320040" y="4681800"/>
            <a:ext cx="200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3000" b="1" u="none" strike="noStrike">
                <a:solidFill>
                  <a:srgbClr val="0065bd"/>
                </a:solidFill>
                <a:effectLst/>
                <a:uFillTx/>
                <a:latin typeface="Arial"/>
              </a:rPr>
              <a:t>73.8 s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Box 14"/>
          <p:cNvSpPr/>
          <p:nvPr/>
        </p:nvSpPr>
        <p:spPr>
          <a:xfrm>
            <a:off x="320040" y="5102280"/>
            <a:ext cx="2009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Full run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Box 15"/>
          <p:cNvSpPr/>
          <p:nvPr/>
        </p:nvSpPr>
        <p:spPr>
          <a:xfrm>
            <a:off x="2514600" y="4681800"/>
            <a:ext cx="200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3000" b="1" u="none" strike="noStrike">
                <a:solidFill>
                  <a:srgbClr val="0065bd"/>
                </a:solidFill>
                <a:effectLst/>
                <a:uFillTx/>
                <a:latin typeface="Arial"/>
              </a:rPr>
              <a:t>1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Box 16"/>
          <p:cNvSpPr/>
          <p:nvPr/>
        </p:nvSpPr>
        <p:spPr>
          <a:xfrm>
            <a:off x="2514600" y="5102280"/>
            <a:ext cx="2009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Camera only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Box 17"/>
          <p:cNvSpPr/>
          <p:nvPr/>
        </p:nvSpPr>
        <p:spPr>
          <a:xfrm>
            <a:off x="4754880" y="4681800"/>
            <a:ext cx="200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3000" b="1" u="none" strike="noStrike">
                <a:solidFill>
                  <a:srgbClr val="0065bd"/>
                </a:solidFill>
                <a:effectLst/>
                <a:uFillTx/>
                <a:latin typeface="Arial"/>
              </a:rPr>
              <a:t>98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Box 18"/>
          <p:cNvSpPr/>
          <p:nvPr/>
        </p:nvSpPr>
        <p:spPr>
          <a:xfrm>
            <a:off x="4754880" y="5102280"/>
            <a:ext cx="2009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Can detections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Box 19"/>
          <p:cNvSpPr/>
          <p:nvPr/>
        </p:nvSpPr>
        <p:spPr>
          <a:xfrm>
            <a:off x="6812280" y="4681800"/>
            <a:ext cx="200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3000" b="1" u="none" strike="noStrike">
                <a:solidFill>
                  <a:srgbClr val="0065bd"/>
                </a:solidFill>
                <a:effectLst/>
                <a:uFillTx/>
                <a:latin typeface="Arial"/>
              </a:rPr>
              <a:t>41 / 59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Box 20"/>
          <p:cNvSpPr/>
          <p:nvPr/>
        </p:nvSpPr>
        <p:spPr>
          <a:xfrm>
            <a:off x="6812280" y="5102280"/>
            <a:ext cx="2009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Tag reads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"/>
          <p:cNvSpPr/>
          <p:nvPr/>
        </p:nvSpPr>
        <p:spPr>
          <a:xfrm>
            <a:off x="3104280" y="5667480"/>
            <a:ext cx="31957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According to „some piece“ of our testing logs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396360" y="1762200"/>
            <a:ext cx="8353080" cy="4697640"/>
          </a:xfrm>
          <a:prstGeom prst="rect">
            <a:avLst/>
          </a:prstGeom>
          <a:ln w="0">
            <a:noFill/>
          </a:ln>
        </p:spPr>
      </p:pic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rm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Video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mediacall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016" fill="hold"/>
                                        <p:tgtEl>
                                          <p:spTgt spid="36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video>
              <p:cMediaNode>
                <p:cTn>
                  <p:stCondLst>
                    <p:cond delay="indefinite"/>
                  </p:stCondLst>
                </p:cTn>
                <p:tgtEl>
                  <p:spTgt spid="368"/>
                </p:tgtEl>
              </p:cMediaNode>
            </p:video>
            <p:seq>
              <p:cTn id="7" restart="whenNotActive" fill="hold" nodeType="interactiveSeq">
                <p:stCondLst>
                  <p:cond delay="0" evt="onClick">
                    <p:tgtEl>
                      <p:spTgt spid="368"/>
                    </p:tgtEl>
                  </p:cond>
                </p:stCondLst>
                <p:childTnLst>
                  <p:par>
                    <p:cTn id="8" fill="hold">
                      <p:stCondLst>
                        <p:cond delay="0" evt="onClick">
                          <p:tgtEl>
                            <p:spTgt spid="368"/>
                          </p:tgtEl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Class="mediacall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36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Object and Marker Detection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Box 4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Box 5"/>
          <p:cNvSpPr/>
          <p:nvPr/>
        </p:nvSpPr>
        <p:spPr>
          <a:xfrm>
            <a:off x="6775560" y="6473880"/>
            <a:ext cx="2046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8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Box 6"/>
          <p:cNvSpPr/>
          <p:nvPr/>
        </p:nvSpPr>
        <p:spPr>
          <a:xfrm>
            <a:off x="320040" y="1828800"/>
            <a:ext cx="85111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Two detectors, every controller input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4" name="Picture 7" descr="can_predict.png"/>
          <p:cNvPicPr/>
          <p:nvPr/>
        </p:nvPicPr>
        <p:blipFill>
          <a:blip r:embed="rId1"/>
          <a:stretch/>
        </p:blipFill>
        <p:spPr>
          <a:xfrm>
            <a:off x="320040" y="2249280"/>
            <a:ext cx="2009880" cy="200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5" name="TextBox 8"/>
          <p:cNvSpPr/>
          <p:nvPr/>
        </p:nvSpPr>
        <p:spPr>
          <a:xfrm>
            <a:off x="320040" y="4370760"/>
            <a:ext cx="21013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Detector output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Box 9"/>
          <p:cNvSpPr/>
          <p:nvPr/>
        </p:nvSpPr>
        <p:spPr>
          <a:xfrm>
            <a:off x="320040" y="4626720"/>
            <a:ext cx="21013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9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SSD-MobileNet-V1 · 300 × 300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7" name="Picture 10" descr="onboard_can_detection.jpg"/>
          <p:cNvPicPr/>
          <p:nvPr/>
        </p:nvPicPr>
        <p:blipFill>
          <a:blip r:embed="rId2"/>
          <a:stretch/>
        </p:blipFill>
        <p:spPr>
          <a:xfrm>
            <a:off x="2651760" y="2249280"/>
            <a:ext cx="2680560" cy="200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TextBox 11"/>
          <p:cNvSpPr/>
          <p:nvPr/>
        </p:nvSpPr>
        <p:spPr>
          <a:xfrm>
            <a:off x="2651760" y="4370760"/>
            <a:ext cx="26773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Can detection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Box 12"/>
          <p:cNvSpPr/>
          <p:nvPr/>
        </p:nvSpPr>
        <p:spPr>
          <a:xfrm>
            <a:off x="2651760" y="4626720"/>
            <a:ext cx="26773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9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error −0.119 · height 0.255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0" name="Picture 13" descr="onboard_tag_detection.jpg"/>
          <p:cNvPicPr/>
          <p:nvPr/>
        </p:nvPicPr>
        <p:blipFill>
          <a:blip r:embed="rId3"/>
          <a:stretch/>
        </p:blipFill>
        <p:spPr>
          <a:xfrm>
            <a:off x="5715000" y="2249280"/>
            <a:ext cx="2680560" cy="200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TextBox 14"/>
          <p:cNvSpPr/>
          <p:nvPr/>
        </p:nvSpPr>
        <p:spPr>
          <a:xfrm>
            <a:off x="5715000" y="4370760"/>
            <a:ext cx="26773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Tag detection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Box 15"/>
          <p:cNvSpPr/>
          <p:nvPr/>
        </p:nvSpPr>
        <p:spPr>
          <a:xfrm>
            <a:off x="5715000" y="4626720"/>
            <a:ext cx="26773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9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tag36h11 id 0 · height 0.186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4"/>
          <p:cNvSpPr/>
          <p:nvPr/>
        </p:nvSpPr>
        <p:spPr>
          <a:xfrm>
            <a:off x="18000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t">
            <a:noAutofit/>
          </a:bodyPr>
          <a:p>
            <a:pPr>
              <a:lnSpc>
                <a:spcPts val="3200"/>
              </a:lnSpc>
              <a:tabLst>
                <a:tab algn="l" pos="0"/>
              </a:tabLst>
            </a:pPr>
            <a:r>
              <a:rPr lang="de-DE" sz="10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An experimental feature we didn’t integrate. Purple is the computed tangent of the obstacle.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4" name=""/>
          <p:cNvPicPr/>
          <p:nvPr/>
        </p:nvPicPr>
        <p:blipFill>
          <a:blip r:embed="rId1"/>
          <a:stretch/>
        </p:blipFill>
        <p:spPr>
          <a:xfrm>
            <a:off x="900000" y="1920960"/>
            <a:ext cx="6100920" cy="455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5" name="PlaceHolder 5"/>
          <p:cNvSpPr/>
          <p:nvPr/>
        </p:nvSpPr>
        <p:spPr>
          <a:xfrm>
            <a:off x="180000" y="490320"/>
            <a:ext cx="8507160" cy="408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t">
            <a:noAutofit/>
          </a:bodyPr>
          <a:p>
            <a:pPr>
              <a:lnSpc>
                <a:spcPts val="3200"/>
              </a:lnSpc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Obstacle avoidance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146CBB5-0133-4C81-9F66-8E64E4D37545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"/>
          <p:cNvSpPr/>
          <p:nvPr/>
        </p:nvSpPr>
        <p:spPr>
          <a:xfrm>
            <a:off x="318960" y="994320"/>
            <a:ext cx="8507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Detector Training Results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"/>
          <p:cNvSpPr/>
          <p:nvPr/>
        </p:nvSpPr>
        <p:spPr>
          <a:xfrm>
            <a:off x="320040" y="1847160"/>
            <a:ext cx="411300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Detector F1 by evaluation set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8" name="Detector F1 from training report"/>
          <p:cNvGraphicFramePr/>
          <p:nvPr/>
        </p:nvGraphicFramePr>
        <p:xfrm>
          <a:off x="320040" y="2121480"/>
          <a:ext cx="4113000" cy="1999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9" name=""/>
          <p:cNvSpPr/>
          <p:nvPr/>
        </p:nvSpPr>
        <p:spPr>
          <a:xfrm>
            <a:off x="4709160" y="2121480"/>
            <a:ext cx="4113000" cy="1999800"/>
          </a:xfrm>
          <a:prstGeom prst="rect">
            <a:avLst/>
          </a:prstGeom>
          <a:noFill/>
          <a:ln w="9525">
            <a:solidFill>
              <a:srgbClr val="d8d8d8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>
              <a:lnSpc>
                <a:spcPct val="100000"/>
              </a:lnSpc>
            </a:pPr>
            <a:r>
              <a:rPr lang="de-DE" sz="1050" b="0" u="none" strike="noStrike">
                <a:solidFill>
                  <a:srgbClr val="a0a0a0"/>
                </a:solidFill>
                <a:effectLst/>
                <a:uFillTx/>
                <a:latin typeface="Arial"/>
                <a:ea typeface="Arial"/>
              </a:rPr>
              <a:t>Insert Jetson Nano test result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"/>
          <p:cNvSpPr/>
          <p:nvPr/>
        </p:nvSpPr>
        <p:spPr>
          <a:xfrm>
            <a:off x="320040" y="4260960"/>
            <a:ext cx="8511120" cy="54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7800" bIns="-378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"/>
          <p:cNvSpPr/>
          <p:nvPr/>
        </p:nvSpPr>
        <p:spPr>
          <a:xfrm>
            <a:off x="320040" y="4425840"/>
            <a:ext cx="2009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600" b="1" u="none" strike="noStrike">
                <a:solidFill>
                  <a:srgbClr val="0065bd"/>
                </a:solidFill>
                <a:effectLst/>
                <a:uFillTx/>
                <a:latin typeface="Arial"/>
                <a:ea typeface="Arial"/>
              </a:rPr>
              <a:t>671</a:t>
            </a:r>
            <a:endParaRPr lang="de-DE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320040" y="4846320"/>
            <a:ext cx="20098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Training images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"/>
          <p:cNvSpPr/>
          <p:nvPr/>
        </p:nvSpPr>
        <p:spPr>
          <a:xfrm>
            <a:off x="2514600" y="4425840"/>
            <a:ext cx="2009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600" b="1" u="none" strike="noStrike">
                <a:solidFill>
                  <a:srgbClr val="0065bd"/>
                </a:solidFill>
                <a:effectLst/>
                <a:uFillTx/>
                <a:latin typeface="Arial"/>
                <a:ea typeface="Arial"/>
              </a:rPr>
              <a:t>194</a:t>
            </a:r>
            <a:endParaRPr lang="de-DE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"/>
          <p:cNvSpPr/>
          <p:nvPr/>
        </p:nvSpPr>
        <p:spPr>
          <a:xfrm>
            <a:off x="2514600" y="4846320"/>
            <a:ext cx="20098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Validation images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"/>
          <p:cNvSpPr/>
          <p:nvPr/>
        </p:nvSpPr>
        <p:spPr>
          <a:xfrm>
            <a:off x="4754880" y="4425840"/>
            <a:ext cx="2009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600" b="1" u="none" strike="noStrike">
                <a:solidFill>
                  <a:srgbClr val="e37222"/>
                </a:solidFill>
                <a:effectLst/>
                <a:uFillTx/>
                <a:latin typeface="Arial"/>
                <a:ea typeface="Arial"/>
              </a:rPr>
              <a:t>0.6637</a:t>
            </a:r>
            <a:endParaRPr lang="de-DE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"/>
          <p:cNvSpPr/>
          <p:nvPr/>
        </p:nvSpPr>
        <p:spPr>
          <a:xfrm>
            <a:off x="4754880" y="4846320"/>
            <a:ext cx="20098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Best validation mAP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"/>
          <p:cNvSpPr/>
          <p:nvPr/>
        </p:nvSpPr>
        <p:spPr>
          <a:xfrm>
            <a:off x="6812280" y="4425840"/>
            <a:ext cx="2009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020" b="1" u="none" strike="noStrike">
                <a:solidFill>
                  <a:srgbClr val="0065bd"/>
                </a:solidFill>
                <a:effectLst/>
                <a:uFillTx/>
                <a:latin typeface="Arial"/>
                <a:ea typeface="Arial"/>
              </a:rPr>
              <a:t>Epoch 22</a:t>
            </a:r>
            <a:endParaRPr lang="de-DE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"/>
          <p:cNvSpPr/>
          <p:nvPr/>
        </p:nvSpPr>
        <p:spPr>
          <a:xfrm>
            <a:off x="6812280" y="4846320"/>
            <a:ext cx="20098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Selected refinement epoch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"/>
          <p:cNvSpPr/>
          <p:nvPr/>
        </p:nvSpPr>
        <p:spPr>
          <a:xfrm>
            <a:off x="320040" y="5321880"/>
            <a:ext cx="8511120" cy="54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7800" bIns="-378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4480560" y="5431680"/>
            <a:ext cx="5400" cy="100404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"/>
          <p:cNvSpPr/>
          <p:nvPr/>
        </p:nvSpPr>
        <p:spPr>
          <a:xfrm>
            <a:off x="320040" y="5468040"/>
            <a:ext cx="403992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Training setup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"/>
          <p:cNvSpPr/>
          <p:nvPr/>
        </p:nvSpPr>
        <p:spPr>
          <a:xfrm>
            <a:off x="320040" y="5742360"/>
            <a:ext cx="4039920" cy="6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152280" indent="-88920">
              <a:lnSpc>
                <a:spcPct val="100000"/>
              </a:lnSpc>
              <a:spcAft>
                <a:spcPts val="400"/>
              </a:spcAft>
              <a:buClr>
                <a:srgbClr val="5a5a5a"/>
              </a:buClr>
              <a:buFont typeface="Symbol" charset="2"/>
              <a:buChar char=""/>
            </a:pPr>
            <a:r>
              <a:rPr lang="de-DE" sz="989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MobileNet V1 SSD at 300 × 300</a:t>
            </a:r>
            <a:endParaRPr lang="de-DE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88920">
              <a:lnSpc>
                <a:spcPct val="100000"/>
              </a:lnSpc>
              <a:spcAft>
                <a:spcPts val="400"/>
              </a:spcAft>
              <a:buClr>
                <a:srgbClr val="5a5a5a"/>
              </a:buClr>
              <a:buFont typeface="Symbol" charset="2"/>
              <a:buChar char=""/>
            </a:pPr>
            <a:r>
              <a:rPr lang="de-DE" sz="989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30 initial epochs and 40 refinement epochs</a:t>
            </a:r>
            <a:endParaRPr lang="de-DE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88920">
              <a:lnSpc>
                <a:spcPct val="100000"/>
              </a:lnSpc>
              <a:spcAft>
                <a:spcPts val="400"/>
              </a:spcAft>
              <a:buClr>
                <a:srgbClr val="5a5a5a"/>
              </a:buClr>
              <a:buFont typeface="Symbol" charset="2"/>
              <a:buChar char=""/>
            </a:pPr>
            <a:r>
              <a:rPr lang="de-DE" sz="989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Confidence 0.20, NMS 0.30, IoU 0.50</a:t>
            </a:r>
            <a:endParaRPr lang="de-DE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"/>
          <p:cNvSpPr/>
          <p:nvPr/>
        </p:nvSpPr>
        <p:spPr>
          <a:xfrm>
            <a:off x="4709160" y="5468040"/>
            <a:ext cx="411300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e37222"/>
                </a:solidFill>
                <a:effectLst/>
                <a:uFillTx/>
                <a:latin typeface="Arial"/>
                <a:ea typeface="Arial"/>
              </a:rPr>
              <a:t>Validation status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"/>
          <p:cNvSpPr/>
          <p:nvPr/>
        </p:nvSpPr>
        <p:spPr>
          <a:xfrm>
            <a:off x="4709160" y="5742360"/>
            <a:ext cx="4113000" cy="6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152280" indent="-88920">
              <a:lnSpc>
                <a:spcPct val="100000"/>
              </a:lnSpc>
              <a:spcAft>
                <a:spcPts val="400"/>
              </a:spcAft>
              <a:buClr>
                <a:srgbClr val="5a5a5a"/>
              </a:buClr>
              <a:buFont typeface="Symbol" charset="2"/>
              <a:buChar char=""/>
            </a:pPr>
            <a:r>
              <a:rPr lang="de-DE" sz="989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ONNX checker passed at opset 11</a:t>
            </a:r>
            <a:endParaRPr lang="de-DE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88920">
              <a:lnSpc>
                <a:spcPct val="100000"/>
              </a:lnSpc>
              <a:spcAft>
                <a:spcPts val="400"/>
              </a:spcAft>
              <a:buClr>
                <a:srgbClr val="5a5a5a"/>
              </a:buClr>
              <a:buFont typeface="Symbol" charset="2"/>
              <a:buChar char=""/>
            </a:pPr>
            <a:r>
              <a:rPr lang="de-DE" sz="989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PyTorch vs. ONNX max error 4.4 × 10⁻⁷</a:t>
            </a:r>
            <a:endParaRPr lang="de-DE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88920">
              <a:lnSpc>
                <a:spcPct val="100000"/>
              </a:lnSpc>
              <a:spcAft>
                <a:spcPts val="400"/>
              </a:spcAft>
              <a:buClr>
                <a:srgbClr val="5a5a5a"/>
              </a:buClr>
              <a:buFont typeface="Symbol" charset="2"/>
              <a:buChar char=""/>
            </a:pPr>
            <a:r>
              <a:rPr lang="de-DE" sz="989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Epoch 22 performed better across robot photo and video domains</a:t>
            </a:r>
            <a:endParaRPr lang="de-DE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"/>
          <p:cNvSpPr/>
          <p:nvPr/>
        </p:nvSpPr>
        <p:spPr>
          <a:xfrm>
            <a:off x="311040" y="6473880"/>
            <a:ext cx="6399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"/>
          <p:cNvSpPr/>
          <p:nvPr/>
        </p:nvSpPr>
        <p:spPr>
          <a:xfrm>
            <a:off x="6775560" y="6473880"/>
            <a:ext cx="2046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7" name="图片" descr="chart_phase_time.png"/>
          <p:cNvPicPr/>
          <p:nvPr/>
        </p:nvPicPr>
        <p:blipFill>
          <a:blip r:embed="rId2"/>
          <a:stretch/>
        </p:blipFill>
        <p:spPr>
          <a:xfrm>
            <a:off x="4705560" y="2120400"/>
            <a:ext cx="4113720" cy="2000880"/>
          </a:xfrm>
          <a:prstGeom prst="rect">
            <a:avLst/>
          </a:prstGeom>
          <a:noFill/>
          <a:ln w="12600">
            <a:noFill/>
          </a:ln>
        </p:spPr>
      </p:pic>
      <p:sp>
        <p:nvSpPr>
          <p:cNvPr id="408" name="矩形"/>
          <p:cNvSpPr/>
          <p:nvPr/>
        </p:nvSpPr>
        <p:spPr>
          <a:xfrm>
            <a:off x="4709520" y="1847160"/>
            <a:ext cx="4113720" cy="1749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1a1a1a"/>
                </a:solidFill>
                <a:effectLst/>
                <a:uFillTx/>
                <a:latin typeface="Arial"/>
                <a:ea typeface="宋体"/>
              </a:rPr>
              <a:t>Base motion per phase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"/>
          <p:cNvPicPr/>
          <p:nvPr/>
        </p:nvPicPr>
        <p:blipFill>
          <a:blip r:embed="rId1"/>
          <a:stretch/>
        </p:blipFill>
        <p:spPr>
          <a:xfrm>
            <a:off x="540000" y="720000"/>
            <a:ext cx="4828680" cy="252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0" name=""/>
          <p:cNvPicPr/>
          <p:nvPr/>
        </p:nvPicPr>
        <p:blipFill>
          <a:blip r:embed="rId2"/>
          <a:stretch/>
        </p:blipFill>
        <p:spPr>
          <a:xfrm>
            <a:off x="4064400" y="3355560"/>
            <a:ext cx="5295600" cy="312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"/>
          <p:cNvSpPr/>
          <p:nvPr/>
        </p:nvSpPr>
        <p:spPr>
          <a:xfrm>
            <a:off x="132840" y="5220000"/>
            <a:ext cx="8507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Dataset(raw files)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Limitations and Challenges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Box 3"/>
          <p:cNvSpPr/>
          <p:nvPr/>
        </p:nvSpPr>
        <p:spPr>
          <a:xfrm>
            <a:off x="320040" y="1463040"/>
            <a:ext cx="85111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Evaluation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4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Box 5"/>
          <p:cNvSpPr/>
          <p:nvPr/>
        </p:nvSpPr>
        <p:spPr>
          <a:xfrm>
            <a:off x="6775560" y="6473880"/>
            <a:ext cx="2046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10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Rounded Rectangle 6"/>
          <p:cNvSpPr/>
          <p:nvPr/>
        </p:nvSpPr>
        <p:spPr>
          <a:xfrm>
            <a:off x="320040" y="1847160"/>
            <a:ext cx="2741400" cy="2138040"/>
          </a:xfrm>
          <a:prstGeom prst="roundRect">
            <a:avLst>
              <a:gd name="adj" fmla="val 8000"/>
            </a:avLst>
          </a:prstGeom>
          <a:solidFill>
            <a:srgbClr val="fdf2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417" name="Picture 7" descr="ic_eyeslash.png"/>
          <p:cNvPicPr/>
          <p:nvPr/>
        </p:nvPicPr>
        <p:blipFill>
          <a:blip r:embed="rId1"/>
          <a:stretch/>
        </p:blipFill>
        <p:spPr>
          <a:xfrm>
            <a:off x="502920" y="1993320"/>
            <a:ext cx="290880" cy="29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TextBox 8"/>
          <p:cNvSpPr/>
          <p:nvPr/>
        </p:nvSpPr>
        <p:spPr>
          <a:xfrm>
            <a:off x="502920" y="2359080"/>
            <a:ext cx="237564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Depth excluded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Box 9"/>
          <p:cNvSpPr/>
          <p:nvPr/>
        </p:nvSpPr>
        <p:spPr>
          <a:xfrm>
            <a:off x="502920" y="2706480"/>
            <a:ext cx="2375640" cy="73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46160" indent="-146160">
              <a:lnSpc>
                <a:spcPct val="116000"/>
              </a:lnSpc>
              <a:spcAft>
                <a:spcPts val="601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0.3 m general scenes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6000"/>
              </a:lnSpc>
              <a:spcAft>
                <a:spcPts val="601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1 m white surfaces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6000"/>
              </a:lnSpc>
              <a:spcAft>
                <a:spcPts val="601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Detector reaches 3 m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Box 10"/>
          <p:cNvSpPr/>
          <p:nvPr/>
        </p:nvSpPr>
        <p:spPr>
          <a:xfrm>
            <a:off x="502920" y="3694320"/>
            <a:ext cx="2375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0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Removed from control path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Rounded Rectangle 11"/>
          <p:cNvSpPr/>
          <p:nvPr/>
        </p:nvSpPr>
        <p:spPr>
          <a:xfrm>
            <a:off x="3209400" y="1847160"/>
            <a:ext cx="2741400" cy="2138040"/>
          </a:xfrm>
          <a:prstGeom prst="roundRect">
            <a:avLst>
              <a:gd name="adj" fmla="val 8000"/>
            </a:avLst>
          </a:prstGeom>
          <a:solidFill>
            <a:srgbClr val="fdf2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422" name="Picture 12" descr="ic_undo.png"/>
          <p:cNvPicPr/>
          <p:nvPr/>
        </p:nvPicPr>
        <p:blipFill>
          <a:blip r:embed="rId2"/>
          <a:stretch/>
        </p:blipFill>
        <p:spPr>
          <a:xfrm>
            <a:off x="3392280" y="1993320"/>
            <a:ext cx="290880" cy="29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3" name="TextBox 13"/>
          <p:cNvSpPr/>
          <p:nvPr/>
        </p:nvSpPr>
        <p:spPr>
          <a:xfrm>
            <a:off x="3392280" y="2359080"/>
            <a:ext cx="237564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Pose drifts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14"/>
          <p:cNvSpPr/>
          <p:nvPr/>
        </p:nvSpPr>
        <p:spPr>
          <a:xfrm>
            <a:off x="3392280" y="2706480"/>
            <a:ext cx="2375640" cy="73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46160" indent="-146160">
              <a:lnSpc>
                <a:spcPct val="116000"/>
              </a:lnSpc>
              <a:spcAft>
                <a:spcPts val="601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Left / right: 1–3 rad/s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6000"/>
              </a:lnSpc>
              <a:spcAft>
                <a:spcPts val="601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Modelled 0.471 / 0.942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6000"/>
              </a:lnSpc>
              <a:spcAft>
                <a:spcPts val="601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Error exceeds model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Box 15"/>
          <p:cNvSpPr/>
          <p:nvPr/>
        </p:nvSpPr>
        <p:spPr>
          <a:xfrm>
            <a:off x="3392280" y="3694320"/>
            <a:ext cx="2375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0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AprilTag: only anchor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Rounded Rectangle 16"/>
          <p:cNvSpPr/>
          <p:nvPr/>
        </p:nvSpPr>
        <p:spPr>
          <a:xfrm>
            <a:off x="6099120" y="1847160"/>
            <a:ext cx="2741400" cy="2138040"/>
          </a:xfrm>
          <a:prstGeom prst="roundRect">
            <a:avLst>
              <a:gd name="adj" fmla="val 8000"/>
            </a:avLst>
          </a:prstGeom>
          <a:solidFill>
            <a:srgbClr val="fdf2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427" name="Picture 17" descr="ic_ban.png"/>
          <p:cNvPicPr/>
          <p:nvPr/>
        </p:nvPicPr>
        <p:blipFill>
          <a:blip r:embed="rId3"/>
          <a:stretch/>
        </p:blipFill>
        <p:spPr>
          <a:xfrm>
            <a:off x="6282000" y="1993320"/>
            <a:ext cx="290880" cy="29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8" name="TextBox 18"/>
          <p:cNvSpPr/>
          <p:nvPr/>
        </p:nvSpPr>
        <p:spPr>
          <a:xfrm>
            <a:off x="6282000" y="2359080"/>
            <a:ext cx="237564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Silent failure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Box 19"/>
          <p:cNvSpPr/>
          <p:nvPr/>
        </p:nvSpPr>
        <p:spPr>
          <a:xfrm>
            <a:off x="6282000" y="2706480"/>
            <a:ext cx="2375640" cy="73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46160" indent="-146160">
              <a:lnSpc>
                <a:spcPct val="116000"/>
              </a:lnSpc>
              <a:spcAft>
                <a:spcPts val="601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Verification disabled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6000"/>
              </a:lnSpc>
              <a:spcAft>
                <a:spcPts val="601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Pickup always recorded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6000"/>
              </a:lnSpc>
              <a:spcAft>
                <a:spcPts val="601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Empty gripper reports success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Box 20"/>
          <p:cNvSpPr/>
          <p:nvPr/>
        </p:nvSpPr>
        <p:spPr>
          <a:xfrm>
            <a:off x="6282000" y="3694320"/>
            <a:ext cx="2375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0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First fix: verification flag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Box 21"/>
          <p:cNvSpPr/>
          <p:nvPr/>
        </p:nvSpPr>
        <p:spPr>
          <a:xfrm>
            <a:off x="320040" y="4187880"/>
            <a:ext cx="85111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00" b="1" u="none" strike="noStrike">
                <a:solidFill>
                  <a:srgbClr val="005293"/>
                </a:solidFill>
                <a:effectLst/>
                <a:uFillTx/>
                <a:latin typeface="Arial"/>
              </a:rPr>
              <a:t>Missing capability: relocalisation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Rectangle 22"/>
          <p:cNvSpPr/>
          <p:nvPr/>
        </p:nvSpPr>
        <p:spPr>
          <a:xfrm>
            <a:off x="320040" y="4535280"/>
            <a:ext cx="8511120" cy="540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7800" bIns="-378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Box 23"/>
          <p:cNvSpPr/>
          <p:nvPr/>
        </p:nvSpPr>
        <p:spPr>
          <a:xfrm>
            <a:off x="320040" y="4681800"/>
            <a:ext cx="851112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Principal challenges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Rectangle 24"/>
          <p:cNvSpPr/>
          <p:nvPr/>
        </p:nvSpPr>
        <p:spPr>
          <a:xfrm>
            <a:off x="320040" y="507960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Box 25"/>
          <p:cNvSpPr/>
          <p:nvPr/>
        </p:nvSpPr>
        <p:spPr>
          <a:xfrm>
            <a:off x="521280" y="5029200"/>
            <a:ext cx="383868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Open-loop turning unreliable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Box 26"/>
          <p:cNvSpPr/>
          <p:nvPr/>
        </p:nvSpPr>
        <p:spPr>
          <a:xfrm>
            <a:off x="521280" y="5248800"/>
            <a:ext cx="38386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Pulses + visual correction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Rectangle 27"/>
          <p:cNvSpPr/>
          <p:nvPr/>
        </p:nvSpPr>
        <p:spPr>
          <a:xfrm>
            <a:off x="320040" y="555480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Box 28"/>
          <p:cNvSpPr/>
          <p:nvPr/>
        </p:nvSpPr>
        <p:spPr>
          <a:xfrm>
            <a:off x="521280" y="5504760"/>
            <a:ext cx="383868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No gripper feedback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Box 29"/>
          <p:cNvSpPr/>
          <p:nvPr/>
        </p:nvSpPr>
        <p:spPr>
          <a:xfrm>
            <a:off x="521280" y="5724000"/>
            <a:ext cx="38386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Full and empty identical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Rectangle 30"/>
          <p:cNvSpPr/>
          <p:nvPr/>
        </p:nvSpPr>
        <p:spPr>
          <a:xfrm>
            <a:off x="320040" y="603036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Box 31"/>
          <p:cNvSpPr/>
          <p:nvPr/>
        </p:nvSpPr>
        <p:spPr>
          <a:xfrm>
            <a:off x="521280" y="5980320"/>
            <a:ext cx="383868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10–15 fps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Box 32"/>
          <p:cNvSpPr/>
          <p:nvPr/>
        </p:nvSpPr>
        <p:spPr>
          <a:xfrm>
            <a:off x="521280" y="6199560"/>
            <a:ext cx="38386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Pulsed motion, low speeds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Rectangle 33"/>
          <p:cNvSpPr/>
          <p:nvPr/>
        </p:nvSpPr>
        <p:spPr>
          <a:xfrm>
            <a:off x="4572000" y="4992480"/>
            <a:ext cx="5400" cy="146124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4" name="Rectangle 34"/>
          <p:cNvSpPr/>
          <p:nvPr/>
        </p:nvSpPr>
        <p:spPr>
          <a:xfrm>
            <a:off x="4827960" y="507960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Box 35"/>
          <p:cNvSpPr/>
          <p:nvPr/>
        </p:nvSpPr>
        <p:spPr>
          <a:xfrm>
            <a:off x="5029200" y="5029200"/>
            <a:ext cx="37929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Model deployment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Box 36"/>
          <p:cNvSpPr/>
          <p:nvPr/>
        </p:nvSpPr>
        <p:spPr>
          <a:xfrm>
            <a:off x="5029200" y="5248800"/>
            <a:ext cx="379296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Accuracy traded for reliability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Rectangle 37"/>
          <p:cNvSpPr/>
          <p:nvPr/>
        </p:nvSpPr>
        <p:spPr>
          <a:xfrm>
            <a:off x="4827960" y="555480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Box 38"/>
          <p:cNvSpPr/>
          <p:nvPr/>
        </p:nvSpPr>
        <p:spPr>
          <a:xfrm>
            <a:off x="5029200" y="5504760"/>
            <a:ext cx="37929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Depth underperformed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Box 39"/>
          <p:cNvSpPr/>
          <p:nvPr/>
        </p:nvSpPr>
        <p:spPr>
          <a:xfrm>
            <a:off x="5029200" y="5724000"/>
            <a:ext cx="379296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Unreliable at useful ranges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Rectangle 40"/>
          <p:cNvSpPr/>
          <p:nvPr/>
        </p:nvSpPr>
        <p:spPr>
          <a:xfrm>
            <a:off x="4827960" y="603036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Box 41"/>
          <p:cNvSpPr/>
          <p:nvPr/>
        </p:nvSpPr>
        <p:spPr>
          <a:xfrm>
            <a:off x="5029200" y="5980320"/>
            <a:ext cx="37929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Grasp timing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Box 42"/>
          <p:cNvSpPr/>
          <p:nvPr/>
        </p:nvSpPr>
        <p:spPr>
          <a:xfrm>
            <a:off x="5029200" y="6199560"/>
            <a:ext cx="379296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Polling beat fixed delay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Conclusion and Future Work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Box 3"/>
          <p:cNvSpPr/>
          <p:nvPr/>
        </p:nvSpPr>
        <p:spPr>
          <a:xfrm>
            <a:off x="320040" y="1463040"/>
            <a:ext cx="85111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Summary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Box 4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Box 5"/>
          <p:cNvSpPr/>
          <p:nvPr/>
        </p:nvSpPr>
        <p:spPr>
          <a:xfrm>
            <a:off x="6775560" y="6473880"/>
            <a:ext cx="2046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11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Box 6"/>
          <p:cNvSpPr/>
          <p:nvPr/>
        </p:nvSpPr>
        <p:spPr>
          <a:xfrm>
            <a:off x="320040" y="1847160"/>
            <a:ext cx="507312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Summary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Box 7"/>
          <p:cNvSpPr/>
          <p:nvPr/>
        </p:nvSpPr>
        <p:spPr>
          <a:xfrm>
            <a:off x="320040" y="2176200"/>
            <a:ext cx="5073120" cy="14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46160" indent="-146160">
              <a:lnSpc>
                <a:spcPct val="120000"/>
              </a:lnSpc>
              <a:spcAft>
                <a:spcPts val="601"/>
              </a:spcAft>
              <a:buClr>
                <a:srgbClr val="64a0c8"/>
              </a:buClr>
              <a:buFont typeface="Arial"/>
              <a:buChar char="•"/>
            </a:pPr>
            <a:r>
              <a:rPr lang="de-DE" sz="12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Mobile manipulator, single camera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20000"/>
              </a:lnSpc>
              <a:spcAft>
                <a:spcPts val="601"/>
              </a:spcAft>
              <a:buClr>
                <a:srgbClr val="64a0c8"/>
              </a:buClr>
              <a:buFont typeface="Arial"/>
              <a:buChar char="•"/>
            </a:pPr>
            <a:r>
              <a:rPr lang="de-DE" sz="12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Closed on appearance, not geometry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20000"/>
              </a:lnSpc>
              <a:spcAft>
                <a:spcPts val="601"/>
              </a:spcAft>
              <a:buClr>
                <a:srgbClr val="64a0c8"/>
              </a:buClr>
              <a:buFont typeface="Arial"/>
              <a:buChar char="•"/>
            </a:pPr>
            <a:r>
              <a:rPr lang="de-DE" sz="12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Errors degrade, never break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20000"/>
              </a:lnSpc>
              <a:spcAft>
                <a:spcPts val="601"/>
              </a:spcAft>
              <a:buClr>
                <a:srgbClr val="64a0c8"/>
              </a:buClr>
              <a:buFont typeface="Arial"/>
              <a:buChar char="•"/>
            </a:pPr>
            <a:r>
              <a:rPr lang="de-DE" sz="12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Drifting map lengthens search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20000"/>
              </a:lnSpc>
              <a:spcAft>
                <a:spcPts val="601"/>
              </a:spcAft>
              <a:buClr>
                <a:srgbClr val="64a0c8"/>
              </a:buClr>
              <a:buFont typeface="Arial"/>
              <a:buChar char="•"/>
            </a:pPr>
            <a:r>
              <a:rPr lang="de-DE" sz="12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Asymmetric turning needs corrections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Box 10"/>
          <p:cNvSpPr/>
          <p:nvPr/>
        </p:nvSpPr>
        <p:spPr>
          <a:xfrm>
            <a:off x="320040" y="4553640"/>
            <a:ext cx="507312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Next steps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Rectangle 11"/>
          <p:cNvSpPr/>
          <p:nvPr/>
        </p:nvSpPr>
        <p:spPr>
          <a:xfrm>
            <a:off x="320040" y="495144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Box 12"/>
          <p:cNvSpPr/>
          <p:nvPr/>
        </p:nvSpPr>
        <p:spPr>
          <a:xfrm>
            <a:off x="521280" y="4901040"/>
            <a:ext cx="487188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Enable grasp verification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Rectangle 14"/>
          <p:cNvSpPr/>
          <p:nvPr/>
        </p:nvSpPr>
        <p:spPr>
          <a:xfrm>
            <a:off x="315360" y="539496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Box 15"/>
          <p:cNvSpPr/>
          <p:nvPr/>
        </p:nvSpPr>
        <p:spPr>
          <a:xfrm>
            <a:off x="521280" y="5394960"/>
            <a:ext cx="487188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Calibrate turn constants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Rectangle 17"/>
          <p:cNvSpPr/>
          <p:nvPr/>
        </p:nvSpPr>
        <p:spPr>
          <a:xfrm>
            <a:off x="5577840" y="1847160"/>
            <a:ext cx="5400" cy="434160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Box 18"/>
          <p:cNvSpPr/>
          <p:nvPr/>
        </p:nvSpPr>
        <p:spPr>
          <a:xfrm>
            <a:off x="5833800" y="1847160"/>
            <a:ext cx="29883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Sensors worth adding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6" name="Picture 19" descr="ic_send.png"/>
          <p:cNvPicPr/>
          <p:nvPr/>
        </p:nvPicPr>
        <p:blipFill>
          <a:blip r:embed="rId1"/>
          <a:stretch/>
        </p:blipFill>
        <p:spPr>
          <a:xfrm>
            <a:off x="5833800" y="228600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TextBox 20"/>
          <p:cNvSpPr/>
          <p:nvPr/>
        </p:nvSpPr>
        <p:spPr>
          <a:xfrm>
            <a:off x="6254640" y="2267640"/>
            <a:ext cx="2567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Forward distance sensor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Box 21"/>
          <p:cNvSpPr/>
          <p:nvPr/>
        </p:nvSpPr>
        <p:spPr>
          <a:xfrm>
            <a:off x="6254640" y="2523600"/>
            <a:ext cx="25675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First metric measurement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9" name="Picture 22" descr="ic_wrench.png"/>
          <p:cNvPicPr/>
          <p:nvPr/>
        </p:nvPicPr>
        <p:blipFill>
          <a:blip r:embed="rId2"/>
          <a:stretch/>
        </p:blipFill>
        <p:spPr>
          <a:xfrm>
            <a:off x="5833800" y="325512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0" name="TextBox 23"/>
          <p:cNvSpPr/>
          <p:nvPr/>
        </p:nvSpPr>
        <p:spPr>
          <a:xfrm>
            <a:off x="6254640" y="3237120"/>
            <a:ext cx="2567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Gripper force sensing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Box 24"/>
          <p:cNvSpPr/>
          <p:nvPr/>
        </p:nvSpPr>
        <p:spPr>
          <a:xfrm>
            <a:off x="6254640" y="3493080"/>
            <a:ext cx="25675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Fixes empty gripper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2" name="Picture 25" descr="ic_sync.png"/>
          <p:cNvPicPr/>
          <p:nvPr/>
        </p:nvPicPr>
        <p:blipFill>
          <a:blip r:embed="rId3"/>
          <a:stretch/>
        </p:blipFill>
        <p:spPr>
          <a:xfrm>
            <a:off x="5833800" y="422460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3" name="TextBox 26"/>
          <p:cNvSpPr/>
          <p:nvPr/>
        </p:nvSpPr>
        <p:spPr>
          <a:xfrm>
            <a:off x="6254640" y="4206240"/>
            <a:ext cx="2567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Wheel odometry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Box 27"/>
          <p:cNvSpPr/>
          <p:nvPr/>
        </p:nvSpPr>
        <p:spPr>
          <a:xfrm>
            <a:off x="6254640" y="4462200"/>
            <a:ext cx="25675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Map becomes measurement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5" name="Picture 28" descr="ic_tag.png"/>
          <p:cNvPicPr/>
          <p:nvPr/>
        </p:nvPicPr>
        <p:blipFill>
          <a:blip r:embed="rId4"/>
          <a:stretch/>
        </p:blipFill>
        <p:spPr>
          <a:xfrm>
            <a:off x="5833800" y="519372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6" name="TextBox 29"/>
          <p:cNvSpPr/>
          <p:nvPr/>
        </p:nvSpPr>
        <p:spPr>
          <a:xfrm>
            <a:off x="6254640" y="5175360"/>
            <a:ext cx="2567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More room tags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Box 30"/>
          <p:cNvSpPr/>
          <p:nvPr/>
        </p:nvSpPr>
        <p:spPr>
          <a:xfrm>
            <a:off x="6254640" y="5431680"/>
            <a:ext cx="25675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Cheap relocalisation anchors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60104_TUM_Praesentation_p_v1">
  <a:themeElements>
    <a:clrScheme name="TUM">
      <a:dk1>
        <a:srgbClr val="000000"/>
      </a:dk1>
      <a:lt1>
        <a:srgbClr val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itel 2">
  <a:themeElements>
    <a:clrScheme name="TUM">
      <a:dk1>
        <a:srgbClr val="000000"/>
      </a:dk1>
      <a:lt1>
        <a:srgbClr val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Titel 3">
  <a:themeElements>
    <a:clrScheme name="TUM">
      <a:dk1>
        <a:srgbClr val="000000"/>
      </a:dk1>
      <a:lt1>
        <a:srgbClr val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Inhalt">
  <a:themeElements>
    <a:clrScheme name="TUM">
      <a:dk1>
        <a:srgbClr val="000000"/>
      </a:dk1>
      <a:lt1>
        <a:srgbClr val="ffffff"/>
      </a:lt1>
      <a:dk2>
        <a:srgbClr val="003359"/>
      </a:dk2>
      <a:lt2>
        <a:srgbClr val="0065bd"/>
      </a:lt2>
      <a:accent1>
        <a:srgbClr val="005293"/>
      </a:accent1>
      <a:accent2>
        <a:srgbClr val="64a0c8"/>
      </a:accent2>
      <a:accent3>
        <a:srgbClr val="98c6ea"/>
      </a:accent3>
      <a:accent4>
        <a:srgbClr val="a2ad00"/>
      </a:accent4>
      <a:accent5>
        <a:srgbClr val="e37222"/>
      </a:accent5>
      <a:accent6>
        <a:srgbClr val="dad7cb"/>
      </a:accent6>
      <a:hlink>
        <a:srgbClr val="0000ff"/>
      </a:hlink>
      <a:folHlink>
        <a:srgbClr val="800080"/>
      </a:folHlink>
    </a:clrScheme>
    <a:fontScheme name="TUM Arial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Kapiteltrenner blau">
  <a:themeElements>
    <a:clrScheme name="TUM">
      <a:dk1>
        <a:srgbClr val="000000"/>
      </a:dk1>
      <a:lt1>
        <a:srgbClr val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Kapiteltrenner schwarz">
  <a:themeElements>
    <a:clrScheme name="TUM">
      <a:dk1>
        <a:srgbClr val="000000"/>
      </a:dk1>
      <a:lt1>
        <a:srgbClr val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140</TotalTime>
  <Application>LibreOffice/25.8.7.1$Windows_X86_64 LibreOffice_project/39c3b7ac021cfb9f4ca681457ad36828f90e2ce7</Application>
  <AppVersion>15.0000</AppVersion>
  <Words>3665</Words>
  <Paragraphs>496</Paragraphs>
  <Company>TUM ZIT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2021-10-05T07:49:29Z</dcterms:created>
  <dc:creator>Bothe, Sonja</dc:creator>
  <dc:description/>
  <dc:language>zh-CN</dc:language>
  <cp:lastModifiedBy/>
  <cp:lastPrinted>2026-09-09T12:57:25Z</cp:lastPrinted>
  <dcterms:modified xsi:type="dcterms:W3CDTF">2026-09-09T15:05:45Z</dcterms:modified>
  <cp:revision>63</cp:revision>
  <dc:subject/>
  <dc:title>PowerPoint-Präsentation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11</vt:i4>
  </property>
  <property fmtid="{D5CDD505-2E9C-101B-9397-08002B2CF9AE}" pid="4" name="PresentationFormat">
    <vt:lpwstr>全屏显示(4:3)</vt:lpwstr>
  </property>
  <property fmtid="{D5CDD505-2E9C-101B-9397-08002B2CF9AE}" pid="5" name="Slides">
    <vt:i4>13</vt:i4>
  </property>
</Properties>
</file>